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6"/>
  </p:notesMasterIdLst>
  <p:handoutMasterIdLst>
    <p:handoutMasterId r:id="rId27"/>
  </p:handoutMasterIdLst>
  <p:sldIdLst>
    <p:sldId id="338" r:id="rId5"/>
    <p:sldId id="327" r:id="rId6"/>
    <p:sldId id="315" r:id="rId7"/>
    <p:sldId id="329" r:id="rId8"/>
    <p:sldId id="302" r:id="rId9"/>
    <p:sldId id="339" r:id="rId10"/>
    <p:sldId id="340" r:id="rId11"/>
    <p:sldId id="348" r:id="rId12"/>
    <p:sldId id="347" r:id="rId13"/>
    <p:sldId id="344" r:id="rId14"/>
    <p:sldId id="345" r:id="rId15"/>
    <p:sldId id="346" r:id="rId16"/>
    <p:sldId id="349" r:id="rId17"/>
    <p:sldId id="350" r:id="rId18"/>
    <p:sldId id="351" r:id="rId19"/>
    <p:sldId id="353" r:id="rId20"/>
    <p:sldId id="352" r:id="rId21"/>
    <p:sldId id="341" r:id="rId22"/>
    <p:sldId id="342" r:id="rId23"/>
    <p:sldId id="343" r:id="rId24"/>
    <p:sldId id="304"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FF7147C-63E8-42AA-964E-32A5FBC579A2}" v="153" dt="2026-09-09T15:14:49.517"/>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706" autoAdjust="0"/>
  </p:normalViewPr>
  <p:slideViewPr>
    <p:cSldViewPr snapToGrid="0">
      <p:cViewPr>
        <p:scale>
          <a:sx n="90" d="100"/>
          <a:sy n="90" d="100"/>
        </p:scale>
        <p:origin x="302" y="18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handoutMaster" Target="handoutMasters/handoutMaster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9/9/2026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9/9/2026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9/9/2026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9/9/2026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9/9/2026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26.png"/></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3" Type="http://schemas.openxmlformats.org/officeDocument/2006/relationships/hyperlink" Target="https://github.com/25A31A42H5/Seasonal-Agriculture-Performance-Analysis."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1938802" y="3552926"/>
            <a:ext cx="7851178" cy="861497"/>
          </a:xfrm>
        </p:spPr>
        <p:txBody>
          <a:bodyPr vert="horz" lIns="91440" tIns="45720" rIns="91440" bIns="45720" rtlCol="0" anchor="t">
            <a:normAutofit/>
          </a:bodyPr>
          <a:lstStyle/>
          <a:p>
            <a:pPr algn="r"/>
            <a:r>
              <a:rPr lang="en-US" b="0" dirty="0">
                <a:solidFill>
                  <a:schemeClr val="tx1"/>
                </a:solidFill>
              </a:rPr>
              <a:t>Student Name : RAJA THRILOKESH GANDHAM</a:t>
            </a:r>
            <a:endParaRPr lang="en-IN" b="0" dirty="0">
              <a:solidFill>
                <a:schemeClr val="tx1"/>
              </a:solidFill>
            </a:endParaRPr>
          </a:p>
          <a:p>
            <a:pPr algn="r"/>
            <a:r>
              <a:rPr lang="en-US" b="0" dirty="0">
                <a:solidFill>
                  <a:schemeClr val="tx1"/>
                </a:solidFill>
              </a:rPr>
              <a:t>College Name- Pragati Engineering College</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3" y="2844750"/>
            <a:ext cx="7788303" cy="743448"/>
          </a:xfrm>
        </p:spPr>
        <p:txBody>
          <a:bodyPr>
            <a:normAutofit fontScale="90000"/>
          </a:bodyPr>
          <a:lstStyle/>
          <a:p>
            <a:r>
              <a:rPr lang="en-GB" sz="3200" dirty="0"/>
              <a:t>Project Title -Seasonal Agricultural Analysis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675957" y="4473675"/>
            <a:ext cx="4630594" cy="646331"/>
          </a:xfrm>
          <a:prstGeom prst="rect">
            <a:avLst/>
          </a:prstGeom>
          <a:noFill/>
        </p:spPr>
        <p:txBody>
          <a:bodyPr wrap="square" rtlCol="0">
            <a:spAutoFit/>
          </a:bodyPr>
          <a:lstStyle/>
          <a:p>
            <a:r>
              <a:rPr lang="en-US" b="1" dirty="0"/>
              <a:t>AICTE STU ID : STU6a0c7ba72c2c01779202983</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92506" y="1112254"/>
            <a:ext cx="6866020" cy="5230562"/>
          </a:xfrm>
        </p:spPr>
        <p:txBody>
          <a:bodyPr vert="horz" lIns="91440" tIns="45720" rIns="91440" bIns="45720" rtlCol="0" anchor="t">
            <a:normAutofit fontScale="85000" lnSpcReduction="10000"/>
          </a:bodyPr>
          <a:lstStyle/>
          <a:p>
            <a:pPr>
              <a:lnSpc>
                <a:spcPct val="100000"/>
              </a:lnSpc>
            </a:pPr>
            <a:r>
              <a:rPr lang="en-IN"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t>
            </a:r>
            <a:r>
              <a:rPr lang="en-IN" sz="2800" dirty="0" err="1"/>
              <a:t>analyze</a:t>
            </a:r>
            <a:r>
              <a:rPr lang="en-IN" sz="2800" dirty="0"/>
              <a:t> the given agricultural dataset and investigate seasonal differences in agricultural performance by identifying meaningful patterns, trends, relationships and variations within the available data. </a:t>
            </a: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675957" y="193040"/>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467359" y="193040"/>
            <a:ext cx="6276109" cy="830997"/>
          </a:xfrm>
        </p:spPr>
        <p:txBody>
          <a:bodyPr>
            <a:normAutofit fontScale="90000"/>
          </a:bodyPr>
          <a:lstStyle/>
          <a:p>
            <a:r>
              <a:rPr lang="en-GB" dirty="0"/>
              <a:t>Project Description</a:t>
            </a: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Box 1">
            <a:extLst>
              <a:ext uri="{FF2B5EF4-FFF2-40B4-BE49-F238E27FC236}">
                <a16:creationId xmlns:a16="http://schemas.microsoft.com/office/drawing/2014/main" id="{630F56FB-EECF-8863-B920-47D9BCB6FE83}"/>
              </a:ext>
            </a:extLst>
          </p:cNvPr>
          <p:cNvSpPr txBox="1"/>
          <p:nvPr/>
        </p:nvSpPr>
        <p:spPr>
          <a:xfrm>
            <a:off x="467359" y="797243"/>
            <a:ext cx="6125946" cy="5355312"/>
          </a:xfrm>
          <a:prstGeom prst="rect">
            <a:avLst/>
          </a:prstGeom>
          <a:noFill/>
        </p:spPr>
        <p:txBody>
          <a:bodyPr wrap="square" rtlCol="0">
            <a:spAutoFit/>
          </a:bodyPr>
          <a:lstStyle/>
          <a:p>
            <a:endParaRPr lang="en-IN" b="1" dirty="0"/>
          </a:p>
          <a:p>
            <a:r>
              <a:rPr lang="en-IN" b="1" dirty="0"/>
              <a:t>Seasonal Agriculture Performance Analysis</a:t>
            </a:r>
            <a:r>
              <a:rPr lang="en-IN" dirty="0"/>
              <a:t> is a data analysis project that examines agricultural activities across different seasons, geographical regions, and farming conditions.</a:t>
            </a:r>
          </a:p>
          <a:p>
            <a:r>
              <a:rPr lang="en-IN" dirty="0"/>
              <a:t>The project </a:t>
            </a:r>
            <a:r>
              <a:rPr lang="en-IN" dirty="0" err="1"/>
              <a:t>analyzes</a:t>
            </a:r>
            <a:r>
              <a:rPr lang="en-IN" dirty="0"/>
              <a:t> factors such as </a:t>
            </a:r>
            <a:r>
              <a:rPr lang="en-IN" b="1" dirty="0"/>
              <a:t>rainfall, temperature, humidity, soil conditions, crop yield, resource usage, water efficiency, production costs, revenue, and profit</a:t>
            </a:r>
            <a:r>
              <a:rPr lang="en-IN" dirty="0"/>
              <a:t> to understand how agricultural performance varies across </a:t>
            </a:r>
            <a:r>
              <a:rPr lang="en-IN" b="1" dirty="0"/>
              <a:t>Kharif, Rabi, and Zaid seasons</a:t>
            </a:r>
            <a:r>
              <a:rPr lang="en-IN" dirty="0"/>
              <a:t>.</a:t>
            </a:r>
          </a:p>
          <a:p>
            <a:r>
              <a:rPr lang="en-IN" dirty="0"/>
              <a:t>The analysis uses </a:t>
            </a:r>
            <a:r>
              <a:rPr lang="en-IN" b="1" dirty="0"/>
              <a:t>data cleaning, statistical analysis, comparisons, correlations, and visualizations</a:t>
            </a:r>
            <a:r>
              <a:rPr lang="en-IN" dirty="0"/>
              <a:t> to identify seasonal patterns, relationships, variations, and unusual observations.</a:t>
            </a:r>
          </a:p>
          <a:p>
            <a:r>
              <a:rPr lang="en-IN" dirty="0"/>
              <a:t>The final outcome is to generate </a:t>
            </a:r>
            <a:r>
              <a:rPr lang="en-IN" b="1" dirty="0"/>
              <a:t>evidence-based insights and recommendations</a:t>
            </a:r>
            <a:r>
              <a:rPr lang="en-IN" dirty="0"/>
              <a:t> that can support better seasonal agricultural planning and resource management.</a:t>
            </a:r>
          </a:p>
          <a:p>
            <a:endParaRPr lang="en-IN" dirty="0"/>
          </a:p>
        </p:txBody>
      </p:sp>
      <p:cxnSp>
        <p:nvCxnSpPr>
          <p:cNvPr id="7" name="Connector: Elbow 6">
            <a:extLst>
              <a:ext uri="{FF2B5EF4-FFF2-40B4-BE49-F238E27FC236}">
                <a16:creationId xmlns:a16="http://schemas.microsoft.com/office/drawing/2014/main" id="{427E8BE7-3257-A01A-A497-F4B38B4F50E0}"/>
              </a:ext>
            </a:extLst>
          </p:cNvPr>
          <p:cNvCxnSpPr/>
          <p:nvPr/>
        </p:nvCxnSpPr>
        <p:spPr>
          <a:xfrm rot="10800000">
            <a:off x="5350042" y="3260050"/>
            <a:ext cx="745958" cy="168951"/>
          </a:xfrm>
          <a:prstGeom prst="bentConnector3">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352391" y="2023444"/>
            <a:ext cx="7904481" cy="4489651"/>
          </a:xfrm>
        </p:spPr>
        <p:txBody>
          <a:bodyPr>
            <a:normAutofit fontScale="55000" lnSpcReduction="20000"/>
          </a:bodyPr>
          <a:lstStyle/>
          <a:p>
            <a:r>
              <a:rPr lang="en-IN" sz="3600" b="1" dirty="0"/>
              <a:t>END USERS</a:t>
            </a:r>
          </a:p>
          <a:p>
            <a:pPr lvl="0"/>
            <a:r>
              <a:rPr lang="en-IN" sz="3600" b="1" dirty="0"/>
              <a:t>Farmers</a:t>
            </a:r>
            <a:r>
              <a:rPr lang="en-IN" sz="3600" dirty="0"/>
              <a:t> – Understand seasonal crop performance, resource usage, and profitability.</a:t>
            </a:r>
          </a:p>
          <a:p>
            <a:pPr lvl="0"/>
            <a:r>
              <a:rPr lang="en-IN" sz="3600" b="1" dirty="0"/>
              <a:t>Agricultural Planners</a:t>
            </a:r>
            <a:r>
              <a:rPr lang="en-IN" sz="3600" dirty="0"/>
              <a:t> – Use seasonal trends and regional comparisons for better planning.</a:t>
            </a:r>
          </a:p>
          <a:p>
            <a:pPr lvl="0"/>
            <a:r>
              <a:rPr lang="en-IN" sz="3600" b="1" dirty="0"/>
              <a:t>Agricultural Departments</a:t>
            </a:r>
            <a:r>
              <a:rPr lang="en-IN" sz="3600" dirty="0"/>
              <a:t> – </a:t>
            </a:r>
            <a:r>
              <a:rPr lang="en-IN" sz="3600" dirty="0" err="1"/>
              <a:t>Analyze</a:t>
            </a:r>
            <a:r>
              <a:rPr lang="en-IN" sz="3600" dirty="0"/>
              <a:t> seasonal agricultural performance across regions.</a:t>
            </a:r>
          </a:p>
          <a:p>
            <a:pPr lvl="0"/>
            <a:r>
              <a:rPr lang="en-IN" sz="3600" b="1" dirty="0"/>
              <a:t>Agricultural Researchers</a:t>
            </a:r>
            <a:r>
              <a:rPr lang="en-IN" sz="3600" dirty="0"/>
              <a:t> – Study relationships between environmental conditions and crop outcomes.</a:t>
            </a:r>
          </a:p>
          <a:p>
            <a:pPr lvl="0"/>
            <a:r>
              <a:rPr lang="en-IN" sz="3600" b="1" dirty="0"/>
              <a:t>Agribusiness &amp; Market Analysts</a:t>
            </a:r>
            <a:r>
              <a:rPr lang="en-IN" sz="3600" dirty="0"/>
              <a:t> – Understand seasonal changes in production, costs, revenue, and profit.</a:t>
            </a:r>
          </a:p>
          <a:p>
            <a:pPr lvl="0"/>
            <a:r>
              <a:rPr lang="en-IN" sz="3600" b="1" dirty="0"/>
              <a:t>Agricultural Consultants</a:t>
            </a:r>
            <a:r>
              <a:rPr lang="en-IN" sz="3600" dirty="0"/>
              <a:t> – Provide data-driven recommendations for improving farm management.</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2">
                                            <p:txEl>
                                              <p:pRg st="6" end="6"/>
                                            </p:txEl>
                                          </p:spTgt>
                                        </p:tgtEl>
                                        <p:attrNameLst>
                                          <p:attrName>style.visibility</p:attrName>
                                        </p:attrNameLst>
                                      </p:cBhvr>
                                      <p:to>
                                        <p:strVal val="visible"/>
                                      </p:to>
                                    </p:set>
                                    <p:animEffect transition="in" filter="fade">
                                      <p:cBhvr>
                                        <p:cTn id="56" dur="1000"/>
                                        <p:tgtEl>
                                          <p:spTgt spid="2">
                                            <p:txEl>
                                              <p:pRg st="6" end="6"/>
                                            </p:txEl>
                                          </p:spTgt>
                                        </p:tgtEl>
                                      </p:cBhvr>
                                    </p:animEffect>
                                    <p:anim calcmode="lin" valueType="num">
                                      <p:cBhvr>
                                        <p:cTn id="57"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452839" y="1043382"/>
            <a:ext cx="9027702" cy="5243448"/>
          </a:xfrm>
        </p:spPr>
        <p:txBody>
          <a:bodyPr/>
          <a:lstStyle/>
          <a:p>
            <a:pPr marL="0" indent="0">
              <a:buNone/>
            </a:pPr>
            <a:endParaRPr lang="en-IN" b="1" dirty="0"/>
          </a:p>
          <a:p>
            <a:pPr lvl="0"/>
            <a:r>
              <a:rPr lang="en-IN" b="1" dirty="0"/>
              <a:t>Python</a:t>
            </a:r>
            <a:r>
              <a:rPr lang="en-IN" dirty="0"/>
              <a:t> – Main programming language for data analysis</a:t>
            </a:r>
          </a:p>
          <a:p>
            <a:pPr lvl="0"/>
            <a:r>
              <a:rPr lang="en-IN" b="1" dirty="0"/>
              <a:t>Pandas</a:t>
            </a:r>
            <a:r>
              <a:rPr lang="en-IN" dirty="0"/>
              <a:t> – Data loading, cleaning, manipulation, and analysis</a:t>
            </a:r>
          </a:p>
          <a:p>
            <a:pPr lvl="0"/>
            <a:r>
              <a:rPr lang="en-IN" b="1" dirty="0"/>
              <a:t>NumPy</a:t>
            </a:r>
            <a:r>
              <a:rPr lang="en-IN" dirty="0"/>
              <a:t> – Numerical operations and data processing</a:t>
            </a:r>
          </a:p>
          <a:p>
            <a:pPr lvl="0"/>
            <a:r>
              <a:rPr lang="en-IN" b="1" dirty="0"/>
              <a:t>Matplotlib</a:t>
            </a:r>
            <a:r>
              <a:rPr lang="en-IN" dirty="0"/>
              <a:t> – Creating charts and visualizations</a:t>
            </a:r>
          </a:p>
          <a:p>
            <a:pPr lvl="0"/>
            <a:r>
              <a:rPr lang="en-IN" b="1" dirty="0"/>
              <a:t>Seaborn</a:t>
            </a:r>
            <a:r>
              <a:rPr lang="en-IN" dirty="0"/>
              <a:t> – Statistical and comparative visualizations</a:t>
            </a:r>
          </a:p>
          <a:p>
            <a:pPr lvl="0"/>
            <a:r>
              <a:rPr lang="en-IN" b="1" dirty="0"/>
              <a:t>SciPy</a:t>
            </a:r>
            <a:r>
              <a:rPr lang="en-IN" dirty="0"/>
              <a:t> – Statistical analysis and ANOVA testing</a:t>
            </a:r>
          </a:p>
          <a:p>
            <a:pPr lvl="0"/>
            <a:r>
              <a:rPr lang="en-IN" b="1" dirty="0"/>
              <a:t>Google </a:t>
            </a:r>
            <a:r>
              <a:rPr lang="en-IN" b="1" dirty="0" err="1"/>
              <a:t>Colab</a:t>
            </a:r>
            <a:r>
              <a:rPr lang="en-IN" dirty="0"/>
              <a:t> – Development and execution environment</a:t>
            </a:r>
          </a:p>
          <a:p>
            <a:pPr lvl="0"/>
            <a:r>
              <a:rPr lang="en-IN" b="1" dirty="0"/>
              <a:t>Jupyter Notebook</a:t>
            </a:r>
            <a:r>
              <a:rPr lang="en-IN" dirty="0"/>
              <a:t> – Documentation and presentation of the analysis</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2320485" y="366398"/>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1" end="1"/>
                                            </p:txEl>
                                          </p:spTgt>
                                        </p:tgtEl>
                                        <p:attrNameLst>
                                          <p:attrName>style.visibility</p:attrName>
                                        </p:attrNameLst>
                                      </p:cBhvr>
                                      <p:to>
                                        <p:strVal val="visible"/>
                                      </p:to>
                                    </p:set>
                                    <p:animEffect transition="in" filter="fade">
                                      <p:cBhvr>
                                        <p:cTn id="14" dur="1000"/>
                                        <p:tgtEl>
                                          <p:spTgt spid="7">
                                            <p:txEl>
                                              <p:pRg st="1" end="1"/>
                                            </p:txEl>
                                          </p:spTgt>
                                        </p:tgtEl>
                                      </p:cBhvr>
                                    </p:animEffect>
                                    <p:anim calcmode="lin" valueType="num">
                                      <p:cBhvr>
                                        <p:cTn id="15"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2" end="2"/>
                                            </p:txEl>
                                          </p:spTgt>
                                        </p:tgtEl>
                                        <p:attrNameLst>
                                          <p:attrName>style.visibility</p:attrName>
                                        </p:attrNameLst>
                                      </p:cBhvr>
                                      <p:to>
                                        <p:strVal val="visible"/>
                                      </p:to>
                                    </p:set>
                                    <p:animEffect transition="in" filter="fade">
                                      <p:cBhvr>
                                        <p:cTn id="21" dur="1000"/>
                                        <p:tgtEl>
                                          <p:spTgt spid="7">
                                            <p:txEl>
                                              <p:pRg st="2" end="2"/>
                                            </p:txEl>
                                          </p:spTgt>
                                        </p:tgtEl>
                                      </p:cBhvr>
                                    </p:animEffect>
                                    <p:anim calcmode="lin" valueType="num">
                                      <p:cBhvr>
                                        <p:cTn id="22"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3" end="3"/>
                                            </p:txEl>
                                          </p:spTgt>
                                        </p:tgtEl>
                                        <p:attrNameLst>
                                          <p:attrName>style.visibility</p:attrName>
                                        </p:attrNameLst>
                                      </p:cBhvr>
                                      <p:to>
                                        <p:strVal val="visible"/>
                                      </p:to>
                                    </p:set>
                                    <p:animEffect transition="in" filter="fade">
                                      <p:cBhvr>
                                        <p:cTn id="28" dur="1000"/>
                                        <p:tgtEl>
                                          <p:spTgt spid="7">
                                            <p:txEl>
                                              <p:pRg st="3" end="3"/>
                                            </p:txEl>
                                          </p:spTgt>
                                        </p:tgtEl>
                                      </p:cBhvr>
                                    </p:animEffect>
                                    <p:anim calcmode="lin" valueType="num">
                                      <p:cBhvr>
                                        <p:cTn id="29"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4" end="4"/>
                                            </p:txEl>
                                          </p:spTgt>
                                        </p:tgtEl>
                                        <p:attrNameLst>
                                          <p:attrName>style.visibility</p:attrName>
                                        </p:attrNameLst>
                                      </p:cBhvr>
                                      <p:to>
                                        <p:strVal val="visible"/>
                                      </p:to>
                                    </p:set>
                                    <p:animEffect transition="in" filter="fade">
                                      <p:cBhvr>
                                        <p:cTn id="35" dur="1000"/>
                                        <p:tgtEl>
                                          <p:spTgt spid="7">
                                            <p:txEl>
                                              <p:pRg st="4" end="4"/>
                                            </p:txEl>
                                          </p:spTgt>
                                        </p:tgtEl>
                                      </p:cBhvr>
                                    </p:animEffect>
                                    <p:anim calcmode="lin" valueType="num">
                                      <p:cBhvr>
                                        <p:cTn id="36"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5" end="5"/>
                                            </p:txEl>
                                          </p:spTgt>
                                        </p:tgtEl>
                                        <p:attrNameLst>
                                          <p:attrName>style.visibility</p:attrName>
                                        </p:attrNameLst>
                                      </p:cBhvr>
                                      <p:to>
                                        <p:strVal val="visible"/>
                                      </p:to>
                                    </p:set>
                                    <p:animEffect transition="in" filter="fade">
                                      <p:cBhvr>
                                        <p:cTn id="42" dur="1000"/>
                                        <p:tgtEl>
                                          <p:spTgt spid="7">
                                            <p:txEl>
                                              <p:pRg st="5" end="5"/>
                                            </p:txEl>
                                          </p:spTgt>
                                        </p:tgtEl>
                                      </p:cBhvr>
                                    </p:animEffect>
                                    <p:anim calcmode="lin" valueType="num">
                                      <p:cBhvr>
                                        <p:cTn id="43"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6" end="6"/>
                                            </p:txEl>
                                          </p:spTgt>
                                        </p:tgtEl>
                                        <p:attrNameLst>
                                          <p:attrName>style.visibility</p:attrName>
                                        </p:attrNameLst>
                                      </p:cBhvr>
                                      <p:to>
                                        <p:strVal val="visible"/>
                                      </p:to>
                                    </p:set>
                                    <p:animEffect transition="in" filter="fade">
                                      <p:cBhvr>
                                        <p:cTn id="49" dur="1000"/>
                                        <p:tgtEl>
                                          <p:spTgt spid="7">
                                            <p:txEl>
                                              <p:pRg st="6" end="6"/>
                                            </p:txEl>
                                          </p:spTgt>
                                        </p:tgtEl>
                                      </p:cBhvr>
                                    </p:animEffect>
                                    <p:anim calcmode="lin" valueType="num">
                                      <p:cBhvr>
                                        <p:cTn id="50"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txEl>
                                              <p:pRg st="7" end="7"/>
                                            </p:txEl>
                                          </p:spTgt>
                                        </p:tgtEl>
                                        <p:attrNameLst>
                                          <p:attrName>style.visibility</p:attrName>
                                        </p:attrNameLst>
                                      </p:cBhvr>
                                      <p:to>
                                        <p:strVal val="visible"/>
                                      </p:to>
                                    </p:set>
                                    <p:animEffect transition="in" filter="fade">
                                      <p:cBhvr>
                                        <p:cTn id="56" dur="1000"/>
                                        <p:tgtEl>
                                          <p:spTgt spid="7">
                                            <p:txEl>
                                              <p:pRg st="7" end="7"/>
                                            </p:txEl>
                                          </p:spTgt>
                                        </p:tgtEl>
                                      </p:cBhvr>
                                    </p:animEffect>
                                    <p:anim calcmode="lin" valueType="num">
                                      <p:cBhvr>
                                        <p:cTn id="57"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7">
                                            <p:txEl>
                                              <p:pRg st="8" end="8"/>
                                            </p:txEl>
                                          </p:spTgt>
                                        </p:tgtEl>
                                        <p:attrNameLst>
                                          <p:attrName>style.visibility</p:attrName>
                                        </p:attrNameLst>
                                      </p:cBhvr>
                                      <p:to>
                                        <p:strVal val="visible"/>
                                      </p:to>
                                    </p:set>
                                    <p:animEffect transition="in" filter="fade">
                                      <p:cBhvr>
                                        <p:cTn id="63" dur="1000"/>
                                        <p:tgtEl>
                                          <p:spTgt spid="7">
                                            <p:txEl>
                                              <p:pRg st="8" end="8"/>
                                            </p:txEl>
                                          </p:spTgt>
                                        </p:tgtEl>
                                      </p:cBhvr>
                                    </p:animEffect>
                                    <p:anim calcmode="lin" valueType="num">
                                      <p:cBhvr>
                                        <p:cTn id="64"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65" dur="1000" fill="hold"/>
                                        <p:tgtEl>
                                          <p:spTgt spid="7">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0" y="26826"/>
            <a:ext cx="2981643" cy="830997"/>
          </a:xfrm>
        </p:spPr>
        <p:txBody>
          <a:bodyPr>
            <a:normAutofit/>
          </a:bodyPr>
          <a:lstStyle/>
          <a:p>
            <a:r>
              <a:rPr lang="en-GB" sz="3200" dirty="0"/>
              <a:t>RESULTS </a:t>
            </a:r>
            <a:endParaRPr lang="en-IN" sz="3200"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868779" y="601944"/>
            <a:ext cx="5688643" cy="2326083"/>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IN" sz="1800" b="1" dirty="0"/>
              <a:t>Kharif showed the highest average agricultural performance, followed by Rabi and Zaid. Kharif recorded higher average yield, revenue, profit and water efficiency compared with the other seasons.</a:t>
            </a:r>
            <a:endParaRPr lang="en-IN" sz="1800" dirty="0"/>
          </a:p>
          <a:p>
            <a:endParaRPr lang="en-IN" sz="1800" dirty="0"/>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807164" y="1431693"/>
            <a:ext cx="4275138" cy="477520"/>
          </a:xfrm>
        </p:spPr>
        <p:txBody>
          <a:bodyPr vert="horz" lIns="91440" tIns="45720" rIns="91440" bIns="45720" rtlCol="0" anchor="t">
            <a:normAutofit/>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1777B381-150F-F5A2-E1D1-9C35A433262F}"/>
              </a:ext>
            </a:extLst>
          </p:cNvPr>
          <p:cNvPicPr>
            <a:picLocks noChangeAspect="1"/>
          </p:cNvPicPr>
          <p:nvPr/>
        </p:nvPicPr>
        <p:blipFill>
          <a:blip r:embed="rId3"/>
          <a:stretch>
            <a:fillRect/>
          </a:stretch>
        </p:blipFill>
        <p:spPr>
          <a:xfrm>
            <a:off x="106462" y="713897"/>
            <a:ext cx="4762317" cy="3513197"/>
          </a:xfrm>
          <a:prstGeom prst="rect">
            <a:avLst/>
          </a:prstGeom>
        </p:spPr>
      </p:pic>
      <p:pic>
        <p:nvPicPr>
          <p:cNvPr id="11" name="Picture 10">
            <a:extLst>
              <a:ext uri="{FF2B5EF4-FFF2-40B4-BE49-F238E27FC236}">
                <a16:creationId xmlns:a16="http://schemas.microsoft.com/office/drawing/2014/main" id="{1D368162-84EF-89DF-ECA8-4B394345463F}"/>
              </a:ext>
            </a:extLst>
          </p:cNvPr>
          <p:cNvPicPr>
            <a:picLocks noChangeAspect="1"/>
          </p:cNvPicPr>
          <p:nvPr/>
        </p:nvPicPr>
        <p:blipFill>
          <a:blip r:embed="rId4"/>
          <a:stretch>
            <a:fillRect/>
          </a:stretch>
        </p:blipFill>
        <p:spPr>
          <a:xfrm>
            <a:off x="5254075" y="2847474"/>
            <a:ext cx="4629291" cy="3945823"/>
          </a:xfrm>
          <a:prstGeom prst="rect">
            <a:avLst/>
          </a:prstGeom>
        </p:spPr>
      </p:pic>
      <p:sp>
        <p:nvSpPr>
          <p:cNvPr id="12" name="TextBox 11">
            <a:extLst>
              <a:ext uri="{FF2B5EF4-FFF2-40B4-BE49-F238E27FC236}">
                <a16:creationId xmlns:a16="http://schemas.microsoft.com/office/drawing/2014/main" id="{CF588FF9-7BCE-7CF0-008D-CA3E64E4BC11}"/>
              </a:ext>
            </a:extLst>
          </p:cNvPr>
          <p:cNvSpPr txBox="1"/>
          <p:nvPr/>
        </p:nvSpPr>
        <p:spPr>
          <a:xfrm>
            <a:off x="320982" y="4964642"/>
            <a:ext cx="4629291" cy="923330"/>
          </a:xfrm>
          <a:prstGeom prst="rect">
            <a:avLst/>
          </a:prstGeom>
          <a:noFill/>
        </p:spPr>
        <p:txBody>
          <a:bodyPr wrap="square" rtlCol="0">
            <a:spAutoFit/>
          </a:bodyPr>
          <a:lstStyle/>
          <a:p>
            <a:r>
              <a:rPr lang="en-IN" dirty="0"/>
              <a:t>Bar chart comparing </a:t>
            </a:r>
            <a:r>
              <a:rPr lang="en-IN" b="1" dirty="0"/>
              <a:t>Yield / Revenue / Profit across Kharif, Rabi and Zaid</a:t>
            </a:r>
            <a:r>
              <a:rPr lang="en-IN" dirty="0"/>
              <a:t>.</a:t>
            </a:r>
          </a:p>
          <a:p>
            <a:endParaRPr lang="en-IN" dirty="0"/>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0" y="0"/>
            <a:ext cx="2981643" cy="830997"/>
          </a:xfrm>
        </p:spPr>
        <p:txBody>
          <a:bodyPr>
            <a:normAutofit/>
          </a:bodyPr>
          <a:lstStyle/>
          <a:p>
            <a:r>
              <a:rPr lang="en-GB" sz="3200" dirty="0"/>
              <a:t>RESULTS </a:t>
            </a:r>
            <a:endParaRPr lang="en-IN" sz="3200"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8D76016B-3C68-D28A-F84D-DF0385B5CE5D}"/>
              </a:ext>
            </a:extLst>
          </p:cNvPr>
          <p:cNvPicPr>
            <a:picLocks noChangeAspect="1"/>
          </p:cNvPicPr>
          <p:nvPr/>
        </p:nvPicPr>
        <p:blipFill>
          <a:blip r:embed="rId3"/>
          <a:stretch>
            <a:fillRect/>
          </a:stretch>
        </p:blipFill>
        <p:spPr>
          <a:xfrm>
            <a:off x="5350042" y="2631286"/>
            <a:ext cx="5498229" cy="4093973"/>
          </a:xfrm>
          <a:prstGeom prst="rect">
            <a:avLst/>
          </a:prstGeom>
        </p:spPr>
      </p:pic>
      <p:pic>
        <p:nvPicPr>
          <p:cNvPr id="9" name="Picture 8">
            <a:extLst>
              <a:ext uri="{FF2B5EF4-FFF2-40B4-BE49-F238E27FC236}">
                <a16:creationId xmlns:a16="http://schemas.microsoft.com/office/drawing/2014/main" id="{A9133183-905F-5FE9-52E0-FFBA32076865}"/>
              </a:ext>
            </a:extLst>
          </p:cNvPr>
          <p:cNvPicPr>
            <a:picLocks noChangeAspect="1"/>
          </p:cNvPicPr>
          <p:nvPr/>
        </p:nvPicPr>
        <p:blipFill>
          <a:blip r:embed="rId4"/>
          <a:stretch>
            <a:fillRect/>
          </a:stretch>
        </p:blipFill>
        <p:spPr>
          <a:xfrm>
            <a:off x="200040" y="585534"/>
            <a:ext cx="4511431" cy="3392909"/>
          </a:xfrm>
          <a:prstGeom prst="rect">
            <a:avLst/>
          </a:prstGeom>
        </p:spPr>
      </p:pic>
      <p:sp>
        <p:nvSpPr>
          <p:cNvPr id="11" name="TextBox 10">
            <a:extLst>
              <a:ext uri="{FF2B5EF4-FFF2-40B4-BE49-F238E27FC236}">
                <a16:creationId xmlns:a16="http://schemas.microsoft.com/office/drawing/2014/main" id="{B0CD3AB2-C4AF-AE0B-5D83-C52AD7120BC2}"/>
              </a:ext>
            </a:extLst>
          </p:cNvPr>
          <p:cNvSpPr txBox="1"/>
          <p:nvPr/>
        </p:nvSpPr>
        <p:spPr>
          <a:xfrm>
            <a:off x="5151176" y="585534"/>
            <a:ext cx="5895960" cy="1200329"/>
          </a:xfrm>
          <a:prstGeom prst="rect">
            <a:avLst/>
          </a:prstGeom>
          <a:noFill/>
        </p:spPr>
        <p:txBody>
          <a:bodyPr wrap="square" rtlCol="0">
            <a:spAutoFit/>
          </a:bodyPr>
          <a:lstStyle/>
          <a:p>
            <a:r>
              <a:rPr lang="en-IN" dirty="0"/>
              <a:t>Major patterns can be identified by comparing agricultural performance, environmental conditions, resource usage, and economic outcomes across different seasons.</a:t>
            </a:r>
          </a:p>
        </p:txBody>
      </p:sp>
      <p:sp>
        <p:nvSpPr>
          <p:cNvPr id="12" name="TextBox 11">
            <a:extLst>
              <a:ext uri="{FF2B5EF4-FFF2-40B4-BE49-F238E27FC236}">
                <a16:creationId xmlns:a16="http://schemas.microsoft.com/office/drawing/2014/main" id="{E956CEF3-731D-1820-A173-D7D7EEFFE067}"/>
              </a:ext>
            </a:extLst>
          </p:cNvPr>
          <p:cNvSpPr txBox="1"/>
          <p:nvPr/>
        </p:nvSpPr>
        <p:spPr>
          <a:xfrm>
            <a:off x="514433" y="4499809"/>
            <a:ext cx="4511431" cy="1754326"/>
          </a:xfrm>
          <a:prstGeom prst="rect">
            <a:avLst/>
          </a:prstGeom>
          <a:noFill/>
        </p:spPr>
        <p:txBody>
          <a:bodyPr wrap="square" rtlCol="0">
            <a:spAutoFit/>
          </a:bodyPr>
          <a:lstStyle/>
          <a:p>
            <a:r>
              <a:rPr lang="en-IN" dirty="0"/>
              <a:t>The visualization highlights clear seasonal differences in </a:t>
            </a:r>
            <a:r>
              <a:rPr lang="en-IN" b="1" dirty="0"/>
              <a:t>rainfall, temperature, soil moisture, sunlight, and crop yield</a:t>
            </a:r>
            <a:r>
              <a:rPr lang="en-IN" dirty="0"/>
              <a:t>, showing that agricultural conditions change considerably between seasons.</a:t>
            </a:r>
          </a:p>
          <a:p>
            <a:endParaRPr lang="en-IN" dirty="0"/>
          </a:p>
        </p:txBody>
      </p:sp>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C7DED-BFE5-309A-DE05-3921DB27EF5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2E2F709-00C8-4CC7-637D-56CA52CDAA5F}"/>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6E7F2D2-F5E2-5A01-C43C-C07C0C8DD6ED}"/>
              </a:ext>
            </a:extLst>
          </p:cNvPr>
          <p:cNvSpPr>
            <a:spLocks noGrp="1"/>
          </p:cNvSpPr>
          <p:nvPr>
            <p:ph type="title"/>
          </p:nvPr>
        </p:nvSpPr>
        <p:spPr>
          <a:xfrm>
            <a:off x="0" y="0"/>
            <a:ext cx="2981643" cy="830997"/>
          </a:xfrm>
        </p:spPr>
        <p:txBody>
          <a:bodyPr>
            <a:normAutofit/>
          </a:bodyPr>
          <a:lstStyle/>
          <a:p>
            <a:r>
              <a:rPr lang="en-GB" sz="3200" dirty="0"/>
              <a:t>RESULTS </a:t>
            </a:r>
            <a:endParaRPr lang="en-IN" sz="3200" dirty="0"/>
          </a:p>
        </p:txBody>
      </p:sp>
      <p:sp>
        <p:nvSpPr>
          <p:cNvPr id="7" name="Text Placeholder 30">
            <a:extLst>
              <a:ext uri="{FF2B5EF4-FFF2-40B4-BE49-F238E27FC236}">
                <a16:creationId xmlns:a16="http://schemas.microsoft.com/office/drawing/2014/main" id="{234D9EA4-CABD-3074-2C4B-C9CFF4D4714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71B07EF-791F-1DBE-8F12-EDAE43177FC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82639454-3BE6-BCD6-6D0C-04D0FD4EDE3C}"/>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9" name="Picture 8">
            <a:extLst>
              <a:ext uri="{FF2B5EF4-FFF2-40B4-BE49-F238E27FC236}">
                <a16:creationId xmlns:a16="http://schemas.microsoft.com/office/drawing/2014/main" id="{06E54F4B-64D7-E948-BA48-534815C5961B}"/>
              </a:ext>
            </a:extLst>
          </p:cNvPr>
          <p:cNvPicPr>
            <a:picLocks noChangeAspect="1"/>
          </p:cNvPicPr>
          <p:nvPr/>
        </p:nvPicPr>
        <p:blipFill>
          <a:blip r:embed="rId3"/>
          <a:stretch>
            <a:fillRect/>
          </a:stretch>
        </p:blipFill>
        <p:spPr>
          <a:xfrm>
            <a:off x="481263" y="626471"/>
            <a:ext cx="5632077" cy="5148687"/>
          </a:xfrm>
          <a:prstGeom prst="rect">
            <a:avLst/>
          </a:prstGeom>
        </p:spPr>
      </p:pic>
      <p:sp>
        <p:nvSpPr>
          <p:cNvPr id="12" name="TextBox 11">
            <a:extLst>
              <a:ext uri="{FF2B5EF4-FFF2-40B4-BE49-F238E27FC236}">
                <a16:creationId xmlns:a16="http://schemas.microsoft.com/office/drawing/2014/main" id="{42960303-D2D2-B8FA-84C0-89F2A44F6240}"/>
              </a:ext>
            </a:extLst>
          </p:cNvPr>
          <p:cNvSpPr txBox="1"/>
          <p:nvPr/>
        </p:nvSpPr>
        <p:spPr>
          <a:xfrm>
            <a:off x="6017474" y="2113737"/>
            <a:ext cx="5177263" cy="1477328"/>
          </a:xfrm>
          <a:prstGeom prst="rect">
            <a:avLst/>
          </a:prstGeom>
          <a:noFill/>
        </p:spPr>
        <p:txBody>
          <a:bodyPr wrap="square" rtlCol="0">
            <a:spAutoFit/>
          </a:bodyPr>
          <a:lstStyle/>
          <a:p>
            <a:r>
              <a:rPr lang="en-IN" dirty="0"/>
              <a:t>Several environmental characteristics change significantly. Average temperature increases from </a:t>
            </a:r>
            <a:r>
              <a:rPr lang="en-IN" b="1" dirty="0"/>
              <a:t>23.49°C in Rabi</a:t>
            </a:r>
            <a:r>
              <a:rPr lang="en-IN" dirty="0"/>
              <a:t> to </a:t>
            </a:r>
            <a:r>
              <a:rPr lang="en-IN" b="1" dirty="0"/>
              <a:t>31.04°C in Zaid</a:t>
            </a:r>
            <a:r>
              <a:rPr lang="en-IN" dirty="0"/>
              <a:t>, while soil moisture decreases from </a:t>
            </a:r>
            <a:r>
              <a:rPr lang="en-IN" b="1" dirty="0"/>
              <a:t>31.20% in Kharif</a:t>
            </a:r>
            <a:r>
              <a:rPr lang="en-IN" dirty="0"/>
              <a:t> to </a:t>
            </a:r>
            <a:r>
              <a:rPr lang="en-IN" b="1" dirty="0"/>
              <a:t>19.17% in Zaid</a:t>
            </a:r>
            <a:r>
              <a:rPr lang="en-IN" dirty="0"/>
              <a:t>.</a:t>
            </a:r>
          </a:p>
        </p:txBody>
      </p:sp>
    </p:spTree>
    <p:extLst>
      <p:ext uri="{BB962C8B-B14F-4D97-AF65-F5344CB8AC3E}">
        <p14:creationId xmlns:p14="http://schemas.microsoft.com/office/powerpoint/2010/main" val="2787530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F285DA-5C63-B33F-3D46-667AA51A9F5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5806493-6048-1348-5933-C406FFC925D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CE372959-911B-91A4-4C0B-08ED9352BDD6}"/>
              </a:ext>
            </a:extLst>
          </p:cNvPr>
          <p:cNvSpPr>
            <a:spLocks noGrp="1"/>
          </p:cNvSpPr>
          <p:nvPr>
            <p:ph type="title"/>
          </p:nvPr>
        </p:nvSpPr>
        <p:spPr>
          <a:xfrm>
            <a:off x="0" y="0"/>
            <a:ext cx="2981643" cy="830997"/>
          </a:xfrm>
        </p:spPr>
        <p:txBody>
          <a:bodyPr>
            <a:normAutofit/>
          </a:bodyPr>
          <a:lstStyle/>
          <a:p>
            <a:r>
              <a:rPr lang="en-GB" sz="3200" dirty="0"/>
              <a:t>RESULTS </a:t>
            </a:r>
            <a:endParaRPr lang="en-IN" sz="3200" dirty="0"/>
          </a:p>
        </p:txBody>
      </p:sp>
      <p:sp>
        <p:nvSpPr>
          <p:cNvPr id="7" name="Text Placeholder 30">
            <a:extLst>
              <a:ext uri="{FF2B5EF4-FFF2-40B4-BE49-F238E27FC236}">
                <a16:creationId xmlns:a16="http://schemas.microsoft.com/office/drawing/2014/main" id="{EFB94291-4F38-7DA2-83A9-CDB27C21D676}"/>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5448A8D5-B14D-7430-C948-F4CDDDEA790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84D039C3-3E22-89BC-7B01-BFB5AA1FE290}"/>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CD7EE41D-6CD5-2D15-2BA9-8FDAFC6F60BE}"/>
              </a:ext>
            </a:extLst>
          </p:cNvPr>
          <p:cNvPicPr>
            <a:picLocks noChangeAspect="1"/>
          </p:cNvPicPr>
          <p:nvPr/>
        </p:nvPicPr>
        <p:blipFill>
          <a:blip r:embed="rId3"/>
          <a:stretch>
            <a:fillRect/>
          </a:stretch>
        </p:blipFill>
        <p:spPr>
          <a:xfrm>
            <a:off x="174497" y="631982"/>
            <a:ext cx="5191050" cy="2712797"/>
          </a:xfrm>
          <a:prstGeom prst="rect">
            <a:avLst/>
          </a:prstGeom>
        </p:spPr>
      </p:pic>
      <p:sp>
        <p:nvSpPr>
          <p:cNvPr id="6" name="TextBox 5">
            <a:extLst>
              <a:ext uri="{FF2B5EF4-FFF2-40B4-BE49-F238E27FC236}">
                <a16:creationId xmlns:a16="http://schemas.microsoft.com/office/drawing/2014/main" id="{113B1DBB-905C-BF42-E9E8-144A6B42C4CF}"/>
              </a:ext>
            </a:extLst>
          </p:cNvPr>
          <p:cNvSpPr txBox="1"/>
          <p:nvPr/>
        </p:nvSpPr>
        <p:spPr>
          <a:xfrm>
            <a:off x="5532657" y="233686"/>
            <a:ext cx="4663844" cy="1797338"/>
          </a:xfrm>
          <a:prstGeom prst="rect">
            <a:avLst/>
          </a:prstGeom>
          <a:noFill/>
        </p:spPr>
        <p:txBody>
          <a:bodyPr wrap="square" rtlCol="0">
            <a:spAutoFit/>
          </a:bodyPr>
          <a:lstStyle/>
          <a:p>
            <a:r>
              <a:rPr lang="en-IN" dirty="0"/>
              <a:t>Crop distribution and irrigation methods are present in all three seasons. For example, </a:t>
            </a:r>
            <a:r>
              <a:rPr lang="en-IN" b="1" dirty="0"/>
              <a:t>Rice and Wheat are common crops</a:t>
            </a:r>
            <a:r>
              <a:rPr lang="en-IN" dirty="0"/>
              <a:t>, while Flood irrigation is the most frequently used irrigation method across seasons.</a:t>
            </a:r>
          </a:p>
        </p:txBody>
      </p:sp>
      <p:pic>
        <p:nvPicPr>
          <p:cNvPr id="11" name="Picture 10">
            <a:extLst>
              <a:ext uri="{FF2B5EF4-FFF2-40B4-BE49-F238E27FC236}">
                <a16:creationId xmlns:a16="http://schemas.microsoft.com/office/drawing/2014/main" id="{213C98CC-126F-812E-BF43-9C4A31F74F22}"/>
              </a:ext>
            </a:extLst>
          </p:cNvPr>
          <p:cNvPicPr>
            <a:picLocks noChangeAspect="1"/>
          </p:cNvPicPr>
          <p:nvPr/>
        </p:nvPicPr>
        <p:blipFill>
          <a:blip r:embed="rId4"/>
          <a:stretch>
            <a:fillRect/>
          </a:stretch>
        </p:blipFill>
        <p:spPr>
          <a:xfrm>
            <a:off x="5532657" y="2311308"/>
            <a:ext cx="5739941" cy="4546692"/>
          </a:xfrm>
          <a:prstGeom prst="rect">
            <a:avLst/>
          </a:prstGeom>
        </p:spPr>
      </p:pic>
      <p:sp>
        <p:nvSpPr>
          <p:cNvPr id="12" name="TextBox 11">
            <a:extLst>
              <a:ext uri="{FF2B5EF4-FFF2-40B4-BE49-F238E27FC236}">
                <a16:creationId xmlns:a16="http://schemas.microsoft.com/office/drawing/2014/main" id="{BD00D601-277D-81F9-D1C9-719EBF122CF8}"/>
              </a:ext>
            </a:extLst>
          </p:cNvPr>
          <p:cNvSpPr txBox="1"/>
          <p:nvPr/>
        </p:nvSpPr>
        <p:spPr>
          <a:xfrm>
            <a:off x="807164" y="3429000"/>
            <a:ext cx="3837025" cy="2308324"/>
          </a:xfrm>
          <a:prstGeom prst="rect">
            <a:avLst/>
          </a:prstGeom>
          <a:noFill/>
        </p:spPr>
        <p:txBody>
          <a:bodyPr wrap="square" rtlCol="0">
            <a:spAutoFit/>
          </a:bodyPr>
          <a:lstStyle/>
          <a:p>
            <a:r>
              <a:rPr lang="en-IN" b="1" dirty="0"/>
              <a:t>Visualization:</a:t>
            </a:r>
            <a:br>
              <a:rPr lang="en-IN" dirty="0"/>
            </a:br>
            <a:r>
              <a:rPr lang="en-IN" dirty="0"/>
              <a:t>The visualization shows that agricultural activities are </a:t>
            </a:r>
            <a:r>
              <a:rPr lang="en-IN" b="1" dirty="0"/>
              <a:t>distributed across all seasons</a:t>
            </a:r>
            <a:r>
              <a:rPr lang="en-IN" dirty="0"/>
              <a:t>, with some differences in crop composition and irrigation practices.</a:t>
            </a:r>
          </a:p>
          <a:p>
            <a:endParaRPr lang="en-IN" dirty="0"/>
          </a:p>
        </p:txBody>
      </p:sp>
    </p:spTree>
    <p:extLst>
      <p:ext uri="{BB962C8B-B14F-4D97-AF65-F5344CB8AC3E}">
        <p14:creationId xmlns:p14="http://schemas.microsoft.com/office/powerpoint/2010/main" val="1238048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5082302" y="1098654"/>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9DB58D7F-E387-AB43-DEA2-370F7E015924}"/>
              </a:ext>
            </a:extLst>
          </p:cNvPr>
          <p:cNvPicPr>
            <a:picLocks noChangeAspect="1"/>
          </p:cNvPicPr>
          <p:nvPr/>
        </p:nvPicPr>
        <p:blipFill>
          <a:blip r:embed="rId3"/>
          <a:stretch>
            <a:fillRect/>
          </a:stretch>
        </p:blipFill>
        <p:spPr>
          <a:xfrm>
            <a:off x="425697" y="1210836"/>
            <a:ext cx="3919998" cy="2810723"/>
          </a:xfrm>
          <a:prstGeom prst="rect">
            <a:avLst/>
          </a:prstGeom>
        </p:spPr>
      </p:pic>
      <p:pic>
        <p:nvPicPr>
          <p:cNvPr id="9" name="Picture 8">
            <a:extLst>
              <a:ext uri="{FF2B5EF4-FFF2-40B4-BE49-F238E27FC236}">
                <a16:creationId xmlns:a16="http://schemas.microsoft.com/office/drawing/2014/main" id="{51EDE5B9-131E-E909-62B8-56341BA03C89}"/>
              </a:ext>
            </a:extLst>
          </p:cNvPr>
          <p:cNvPicPr>
            <a:picLocks noChangeAspect="1"/>
          </p:cNvPicPr>
          <p:nvPr/>
        </p:nvPicPr>
        <p:blipFill>
          <a:blip r:embed="rId4"/>
          <a:stretch>
            <a:fillRect/>
          </a:stretch>
        </p:blipFill>
        <p:spPr>
          <a:xfrm>
            <a:off x="5139264" y="2396067"/>
            <a:ext cx="4833671" cy="4094900"/>
          </a:xfrm>
          <a:prstGeom prst="rect">
            <a:avLst/>
          </a:prstGeom>
        </p:spPr>
      </p:pic>
      <p:sp>
        <p:nvSpPr>
          <p:cNvPr id="11" name="TextBox 10">
            <a:extLst>
              <a:ext uri="{FF2B5EF4-FFF2-40B4-BE49-F238E27FC236}">
                <a16:creationId xmlns:a16="http://schemas.microsoft.com/office/drawing/2014/main" id="{DEB59570-6119-855D-B255-BA0D04ED4E75}"/>
              </a:ext>
            </a:extLst>
          </p:cNvPr>
          <p:cNvSpPr txBox="1"/>
          <p:nvPr/>
        </p:nvSpPr>
        <p:spPr>
          <a:xfrm>
            <a:off x="5006569" y="431885"/>
            <a:ext cx="4833671" cy="1477328"/>
          </a:xfrm>
          <a:prstGeom prst="rect">
            <a:avLst/>
          </a:prstGeom>
          <a:noFill/>
        </p:spPr>
        <p:txBody>
          <a:bodyPr wrap="square" rtlCol="0">
            <a:spAutoFit/>
          </a:bodyPr>
          <a:lstStyle/>
          <a:p>
            <a:r>
              <a:rPr lang="en-IN" dirty="0"/>
              <a:t>Average water usage is highest in </a:t>
            </a:r>
            <a:r>
              <a:rPr lang="en-IN" b="1" dirty="0"/>
              <a:t>Zaid (6,419.89 m³)</a:t>
            </a:r>
            <a:r>
              <a:rPr lang="en-IN" dirty="0"/>
              <a:t>, followed by Kharif (</a:t>
            </a:r>
            <a:r>
              <a:rPr lang="en-IN" b="1" dirty="0"/>
              <a:t>6,102.20 m³</a:t>
            </a:r>
            <a:r>
              <a:rPr lang="en-IN" dirty="0"/>
              <a:t>) and Rabi (</a:t>
            </a:r>
            <a:r>
              <a:rPr lang="en-IN" b="1" dirty="0"/>
              <a:t>5,846.99 m³</a:t>
            </a:r>
            <a:r>
              <a:rPr lang="en-IN" dirty="0"/>
              <a:t>). Fertilizer usage remains relatively similar across seasons.</a:t>
            </a:r>
          </a:p>
        </p:txBody>
      </p:sp>
      <p:sp>
        <p:nvSpPr>
          <p:cNvPr id="12" name="TextBox 11">
            <a:extLst>
              <a:ext uri="{FF2B5EF4-FFF2-40B4-BE49-F238E27FC236}">
                <a16:creationId xmlns:a16="http://schemas.microsoft.com/office/drawing/2014/main" id="{5BAA372E-21C6-E8DA-2DC0-C01435FAD97D}"/>
              </a:ext>
            </a:extLst>
          </p:cNvPr>
          <p:cNvSpPr txBox="1"/>
          <p:nvPr/>
        </p:nvSpPr>
        <p:spPr>
          <a:xfrm>
            <a:off x="270938" y="4414204"/>
            <a:ext cx="4413902" cy="2031325"/>
          </a:xfrm>
          <a:prstGeom prst="rect">
            <a:avLst/>
          </a:prstGeom>
          <a:noFill/>
        </p:spPr>
        <p:txBody>
          <a:bodyPr wrap="square" rtlCol="0">
            <a:spAutoFit/>
          </a:bodyPr>
          <a:lstStyle/>
          <a:p>
            <a:r>
              <a:rPr lang="en-IN" b="1" dirty="0"/>
              <a:t>Visualization:</a:t>
            </a:r>
            <a:br>
              <a:rPr lang="en-IN" dirty="0"/>
            </a:br>
            <a:r>
              <a:rPr lang="en-IN" dirty="0"/>
              <a:t>The graph shows that </a:t>
            </a:r>
            <a:r>
              <a:rPr lang="en-IN" b="1" dirty="0"/>
              <a:t>Zaid requires more water despite receiving less rainfall</a:t>
            </a:r>
            <a:r>
              <a:rPr lang="en-IN" dirty="0"/>
              <a:t>, while fertilizer and pesticide usage remain relatively stable across seasons.</a:t>
            </a:r>
          </a:p>
          <a:p>
            <a:endParaRPr lang="en-IN" dirty="0"/>
          </a:p>
        </p:txBody>
      </p:sp>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256697" y="107037"/>
            <a:ext cx="2981643" cy="830997"/>
          </a:xfrm>
        </p:spPr>
        <p:txBody>
          <a:bodyPr>
            <a:normAutofit/>
          </a:bodyPr>
          <a:lstStyle/>
          <a:p>
            <a:r>
              <a:rPr lang="en-GB" sz="3200" dirty="0"/>
              <a:t>RESULTS </a:t>
            </a:r>
            <a:endParaRPr lang="en-IN" sz="3200"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F3CFB348-D365-2961-EABF-BEA878CA4E60}"/>
              </a:ext>
            </a:extLst>
          </p:cNvPr>
          <p:cNvPicPr>
            <a:picLocks noChangeAspect="1"/>
          </p:cNvPicPr>
          <p:nvPr/>
        </p:nvPicPr>
        <p:blipFill>
          <a:blip r:embed="rId3"/>
          <a:stretch>
            <a:fillRect/>
          </a:stretch>
        </p:blipFill>
        <p:spPr>
          <a:xfrm>
            <a:off x="152398" y="824617"/>
            <a:ext cx="4929904" cy="3001961"/>
          </a:xfrm>
          <a:prstGeom prst="rect">
            <a:avLst/>
          </a:prstGeom>
        </p:spPr>
      </p:pic>
      <p:pic>
        <p:nvPicPr>
          <p:cNvPr id="9" name="Picture 8">
            <a:extLst>
              <a:ext uri="{FF2B5EF4-FFF2-40B4-BE49-F238E27FC236}">
                <a16:creationId xmlns:a16="http://schemas.microsoft.com/office/drawing/2014/main" id="{7F104D2F-F794-6D48-EBD8-E27EFB840891}"/>
              </a:ext>
            </a:extLst>
          </p:cNvPr>
          <p:cNvPicPr>
            <a:picLocks noChangeAspect="1"/>
          </p:cNvPicPr>
          <p:nvPr/>
        </p:nvPicPr>
        <p:blipFill>
          <a:blip r:embed="rId4"/>
          <a:stretch>
            <a:fillRect/>
          </a:stretch>
        </p:blipFill>
        <p:spPr>
          <a:xfrm>
            <a:off x="5331733" y="2759564"/>
            <a:ext cx="5336268" cy="4098436"/>
          </a:xfrm>
          <a:prstGeom prst="rect">
            <a:avLst/>
          </a:prstGeom>
        </p:spPr>
      </p:pic>
      <p:sp>
        <p:nvSpPr>
          <p:cNvPr id="11" name="TextBox 10">
            <a:extLst>
              <a:ext uri="{FF2B5EF4-FFF2-40B4-BE49-F238E27FC236}">
                <a16:creationId xmlns:a16="http://schemas.microsoft.com/office/drawing/2014/main" id="{5BAC5A86-446A-80E7-4851-44DD2A5FE352}"/>
              </a:ext>
            </a:extLst>
          </p:cNvPr>
          <p:cNvSpPr txBox="1"/>
          <p:nvPr/>
        </p:nvSpPr>
        <p:spPr>
          <a:xfrm>
            <a:off x="5395566" y="508006"/>
            <a:ext cx="5096938" cy="2031325"/>
          </a:xfrm>
          <a:prstGeom prst="rect">
            <a:avLst/>
          </a:prstGeom>
          <a:noFill/>
        </p:spPr>
        <p:txBody>
          <a:bodyPr wrap="square" rtlCol="0">
            <a:spAutoFit/>
          </a:bodyPr>
          <a:lstStyle/>
          <a:p>
            <a:r>
              <a:rPr lang="en-IN" dirty="0"/>
              <a:t>The seasonal averages show that Kharif has higher rainfall and soil moisture along with the highest yield. However, the correlation analysis between individual environmental variables and yield is </a:t>
            </a:r>
            <a:r>
              <a:rPr lang="en-IN" b="1" dirty="0"/>
              <a:t>very weak</a:t>
            </a:r>
            <a:r>
              <a:rPr lang="en-IN" dirty="0"/>
              <a:t>, indicating that no strong linear relationship is evident from these variables alone.</a:t>
            </a:r>
          </a:p>
        </p:txBody>
      </p:sp>
      <p:sp>
        <p:nvSpPr>
          <p:cNvPr id="13" name="TextBox 12">
            <a:extLst>
              <a:ext uri="{FF2B5EF4-FFF2-40B4-BE49-F238E27FC236}">
                <a16:creationId xmlns:a16="http://schemas.microsoft.com/office/drawing/2014/main" id="{57B601DC-8468-EC78-E3C4-DA9BCC98AD7E}"/>
              </a:ext>
            </a:extLst>
          </p:cNvPr>
          <p:cNvSpPr txBox="1"/>
          <p:nvPr/>
        </p:nvSpPr>
        <p:spPr>
          <a:xfrm>
            <a:off x="376763" y="4099777"/>
            <a:ext cx="4345702" cy="2585323"/>
          </a:xfrm>
          <a:prstGeom prst="rect">
            <a:avLst/>
          </a:prstGeom>
          <a:noFill/>
        </p:spPr>
        <p:txBody>
          <a:bodyPr wrap="square" rtlCol="0">
            <a:spAutoFit/>
          </a:bodyPr>
          <a:lstStyle/>
          <a:p>
            <a:r>
              <a:rPr lang="en-IN" b="1" dirty="0"/>
              <a:t>Visualization:</a:t>
            </a:r>
            <a:br>
              <a:rPr lang="en-IN" dirty="0"/>
            </a:br>
            <a:r>
              <a:rPr lang="en-IN" dirty="0"/>
              <a:t>The visualization shows that seasons with more </a:t>
            </a:r>
            <a:r>
              <a:rPr lang="en-IN" dirty="0" err="1"/>
              <a:t>favorable</a:t>
            </a:r>
            <a:r>
              <a:rPr lang="en-IN" dirty="0"/>
              <a:t> overall environmental conditions tend to have higher average yields, although the relationship between individual environmental factors and yield is not strong.</a:t>
            </a:r>
          </a:p>
          <a:p>
            <a:endParaRPr lang="en-IN" dirty="0"/>
          </a:p>
        </p:txBody>
      </p:sp>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184891" y="-123934"/>
            <a:ext cx="2981643" cy="830997"/>
          </a:xfrm>
        </p:spPr>
        <p:txBody>
          <a:bodyPr>
            <a:normAutofit/>
          </a:bodyPr>
          <a:lstStyle/>
          <a:p>
            <a:r>
              <a:rPr lang="en-GB" sz="3200" dirty="0"/>
              <a:t>RESULTS</a:t>
            </a:r>
            <a:r>
              <a:rPr lang="en-GB" dirty="0"/>
              <a:t>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A467CB99-3C5C-AD93-8249-1E404050E936}"/>
              </a:ext>
            </a:extLst>
          </p:cNvPr>
          <p:cNvPicPr>
            <a:picLocks noChangeAspect="1"/>
          </p:cNvPicPr>
          <p:nvPr/>
        </p:nvPicPr>
        <p:blipFill>
          <a:blip r:embed="rId3"/>
          <a:stretch>
            <a:fillRect/>
          </a:stretch>
        </p:blipFill>
        <p:spPr>
          <a:xfrm>
            <a:off x="125619" y="655773"/>
            <a:ext cx="6146090" cy="3704560"/>
          </a:xfrm>
          <a:prstGeom prst="rect">
            <a:avLst/>
          </a:prstGeom>
        </p:spPr>
      </p:pic>
      <p:pic>
        <p:nvPicPr>
          <p:cNvPr id="9" name="Picture 8">
            <a:extLst>
              <a:ext uri="{FF2B5EF4-FFF2-40B4-BE49-F238E27FC236}">
                <a16:creationId xmlns:a16="http://schemas.microsoft.com/office/drawing/2014/main" id="{7600803D-FD26-32A3-8BC1-A3632AD99790}"/>
              </a:ext>
            </a:extLst>
          </p:cNvPr>
          <p:cNvPicPr>
            <a:picLocks noChangeAspect="1"/>
          </p:cNvPicPr>
          <p:nvPr/>
        </p:nvPicPr>
        <p:blipFill>
          <a:blip r:embed="rId4"/>
          <a:stretch>
            <a:fillRect/>
          </a:stretch>
        </p:blipFill>
        <p:spPr>
          <a:xfrm>
            <a:off x="6400800" y="2407540"/>
            <a:ext cx="5232400" cy="4348856"/>
          </a:xfrm>
          <a:prstGeom prst="rect">
            <a:avLst/>
          </a:prstGeom>
        </p:spPr>
      </p:pic>
      <p:sp>
        <p:nvSpPr>
          <p:cNvPr id="12" name="TextBox 11">
            <a:extLst>
              <a:ext uri="{FF2B5EF4-FFF2-40B4-BE49-F238E27FC236}">
                <a16:creationId xmlns:a16="http://schemas.microsoft.com/office/drawing/2014/main" id="{57CCCA15-7560-FFBE-5A8D-58DB6E423124}"/>
              </a:ext>
            </a:extLst>
          </p:cNvPr>
          <p:cNvSpPr txBox="1"/>
          <p:nvPr/>
        </p:nvSpPr>
        <p:spPr>
          <a:xfrm>
            <a:off x="6365298" y="193125"/>
            <a:ext cx="4765209" cy="1477328"/>
          </a:xfrm>
          <a:prstGeom prst="rect">
            <a:avLst/>
          </a:prstGeom>
          <a:noFill/>
        </p:spPr>
        <p:txBody>
          <a:bodyPr wrap="square" rtlCol="0">
            <a:spAutoFit/>
          </a:bodyPr>
          <a:lstStyle/>
          <a:p>
            <a:r>
              <a:rPr lang="en-IN" dirty="0"/>
              <a:t>Kharif has the highest average revenue (</a:t>
            </a:r>
            <a:r>
              <a:rPr lang="en-IN" b="1" dirty="0"/>
              <a:t>₹710,719</a:t>
            </a:r>
            <a:r>
              <a:rPr lang="en-IN" dirty="0"/>
              <a:t>) and profit (</a:t>
            </a:r>
            <a:r>
              <a:rPr lang="en-IN" b="1" dirty="0"/>
              <a:t>₹178,915</a:t>
            </a:r>
            <a:r>
              <a:rPr lang="en-IN" dirty="0"/>
              <a:t>). Rabi has an average profit of approximately </a:t>
            </a:r>
            <a:r>
              <a:rPr lang="en-IN" b="1" dirty="0"/>
              <a:t>₹87,689</a:t>
            </a:r>
            <a:r>
              <a:rPr lang="en-IN" dirty="0"/>
              <a:t>, while Zaid has an average </a:t>
            </a:r>
            <a:r>
              <a:rPr lang="en-IN" b="1" dirty="0"/>
              <a:t>loss of ₹24,805</a:t>
            </a:r>
            <a:r>
              <a:rPr lang="en-IN" dirty="0"/>
              <a:t>.</a:t>
            </a:r>
          </a:p>
        </p:txBody>
      </p:sp>
      <p:sp>
        <p:nvSpPr>
          <p:cNvPr id="13" name="TextBox 12">
            <a:extLst>
              <a:ext uri="{FF2B5EF4-FFF2-40B4-BE49-F238E27FC236}">
                <a16:creationId xmlns:a16="http://schemas.microsoft.com/office/drawing/2014/main" id="{6EBB39AD-B428-51ED-8AA2-66879B6F1DAB}"/>
              </a:ext>
            </a:extLst>
          </p:cNvPr>
          <p:cNvSpPr txBox="1"/>
          <p:nvPr/>
        </p:nvSpPr>
        <p:spPr>
          <a:xfrm>
            <a:off x="405026" y="4783660"/>
            <a:ext cx="5792578" cy="1477328"/>
          </a:xfrm>
          <a:prstGeom prst="rect">
            <a:avLst/>
          </a:prstGeom>
          <a:noFill/>
        </p:spPr>
        <p:txBody>
          <a:bodyPr wrap="square" rtlCol="0">
            <a:spAutoFit/>
          </a:bodyPr>
          <a:lstStyle/>
          <a:p>
            <a:r>
              <a:rPr lang="en-IN" b="1" dirty="0"/>
              <a:t>Visualization:</a:t>
            </a:r>
            <a:br>
              <a:rPr lang="en-IN" dirty="0"/>
            </a:br>
            <a:r>
              <a:rPr lang="en-IN" dirty="0"/>
              <a:t>The graph clearly shows </a:t>
            </a:r>
            <a:r>
              <a:rPr lang="en-IN" b="1" dirty="0"/>
              <a:t>Kharif as the most economically successful season</a:t>
            </a:r>
            <a:r>
              <a:rPr lang="en-IN" dirty="0"/>
              <a:t>, while Zaid has the weakest economic performance and an average negative profit.</a:t>
            </a:r>
          </a:p>
        </p:txBody>
      </p:sp>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F82F47-AD88-E9FC-FA4B-FAE7AAD450A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B15A1A3-744E-AB65-8CDA-577E315FD9E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E8E260-F704-2269-2D39-406466D5C6D9}"/>
              </a:ext>
            </a:extLst>
          </p:cNvPr>
          <p:cNvSpPr>
            <a:spLocks noGrp="1"/>
          </p:cNvSpPr>
          <p:nvPr>
            <p:ph type="title"/>
          </p:nvPr>
        </p:nvSpPr>
        <p:spPr>
          <a:xfrm>
            <a:off x="184891" y="-123934"/>
            <a:ext cx="2981643" cy="830997"/>
          </a:xfrm>
        </p:spPr>
        <p:txBody>
          <a:bodyPr>
            <a:normAutofit/>
          </a:bodyPr>
          <a:lstStyle/>
          <a:p>
            <a:r>
              <a:rPr lang="en-GB" sz="3200" dirty="0"/>
              <a:t>RESULTS</a:t>
            </a:r>
            <a:r>
              <a:rPr lang="en-GB" dirty="0"/>
              <a:t> </a:t>
            </a:r>
            <a:endParaRPr lang="en-IN" dirty="0"/>
          </a:p>
        </p:txBody>
      </p:sp>
      <p:sp>
        <p:nvSpPr>
          <p:cNvPr id="7" name="Text Placeholder 30">
            <a:extLst>
              <a:ext uri="{FF2B5EF4-FFF2-40B4-BE49-F238E27FC236}">
                <a16:creationId xmlns:a16="http://schemas.microsoft.com/office/drawing/2014/main" id="{305E00E9-59E1-7AE0-7C64-CAB7C375316C}"/>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9647CEB5-84A5-5907-08BF-12A69C9251EB}"/>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D2F127CA-2D94-2E13-12AC-D04C36C415C6}"/>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6" name="Picture 5">
            <a:extLst>
              <a:ext uri="{FF2B5EF4-FFF2-40B4-BE49-F238E27FC236}">
                <a16:creationId xmlns:a16="http://schemas.microsoft.com/office/drawing/2014/main" id="{D565D440-0F4E-9023-64C4-2AB71B257EE5}"/>
              </a:ext>
            </a:extLst>
          </p:cNvPr>
          <p:cNvPicPr>
            <a:picLocks noChangeAspect="1"/>
          </p:cNvPicPr>
          <p:nvPr/>
        </p:nvPicPr>
        <p:blipFill>
          <a:blip r:embed="rId3"/>
          <a:stretch>
            <a:fillRect/>
          </a:stretch>
        </p:blipFill>
        <p:spPr>
          <a:xfrm>
            <a:off x="177046" y="707063"/>
            <a:ext cx="4322972" cy="3035204"/>
          </a:xfrm>
          <a:prstGeom prst="rect">
            <a:avLst/>
          </a:prstGeom>
        </p:spPr>
      </p:pic>
      <p:pic>
        <p:nvPicPr>
          <p:cNvPr id="14" name="Picture 13">
            <a:extLst>
              <a:ext uri="{FF2B5EF4-FFF2-40B4-BE49-F238E27FC236}">
                <a16:creationId xmlns:a16="http://schemas.microsoft.com/office/drawing/2014/main" id="{2A8A28D8-3D04-8F50-FADE-9EA1E5436992}"/>
              </a:ext>
            </a:extLst>
          </p:cNvPr>
          <p:cNvPicPr>
            <a:picLocks noChangeAspect="1"/>
          </p:cNvPicPr>
          <p:nvPr/>
        </p:nvPicPr>
        <p:blipFill>
          <a:blip r:embed="rId4"/>
          <a:stretch>
            <a:fillRect/>
          </a:stretch>
        </p:blipFill>
        <p:spPr>
          <a:xfrm>
            <a:off x="5036152" y="2364736"/>
            <a:ext cx="5895903" cy="4488856"/>
          </a:xfrm>
          <a:prstGeom prst="rect">
            <a:avLst/>
          </a:prstGeom>
        </p:spPr>
      </p:pic>
      <p:sp>
        <p:nvSpPr>
          <p:cNvPr id="15" name="TextBox 14">
            <a:extLst>
              <a:ext uri="{FF2B5EF4-FFF2-40B4-BE49-F238E27FC236}">
                <a16:creationId xmlns:a16="http://schemas.microsoft.com/office/drawing/2014/main" id="{60AC9109-1951-D7A1-4A08-66D8F67A147B}"/>
              </a:ext>
            </a:extLst>
          </p:cNvPr>
          <p:cNvSpPr txBox="1"/>
          <p:nvPr/>
        </p:nvSpPr>
        <p:spPr>
          <a:xfrm>
            <a:off x="4673171" y="330198"/>
            <a:ext cx="5791634" cy="1754326"/>
          </a:xfrm>
          <a:prstGeom prst="rect">
            <a:avLst/>
          </a:prstGeom>
          <a:noFill/>
        </p:spPr>
        <p:txBody>
          <a:bodyPr wrap="square" rtlCol="0">
            <a:spAutoFit/>
          </a:bodyPr>
          <a:lstStyle/>
          <a:p>
            <a:r>
              <a:rPr lang="en-IN" dirty="0"/>
              <a:t>The seasonal performance is </a:t>
            </a:r>
            <a:r>
              <a:rPr lang="en-IN" b="1" dirty="0"/>
              <a:t>not completely consistent across states</a:t>
            </a:r>
            <a:r>
              <a:rPr lang="en-IN" dirty="0"/>
              <a:t>. For example, Punjab has its highest average yield in Rabi (</a:t>
            </a:r>
            <a:r>
              <a:rPr lang="en-IN" b="1" dirty="0"/>
              <a:t>8.61 tonnes/ha</a:t>
            </a:r>
            <a:r>
              <a:rPr lang="en-IN" dirty="0"/>
              <a:t>), whereas Gujarat performs best in Kharif (</a:t>
            </a:r>
            <a:r>
              <a:rPr lang="en-IN" b="1" dirty="0"/>
              <a:t>6.34 tonnes/ha</a:t>
            </a:r>
            <a:r>
              <a:rPr lang="en-IN" dirty="0"/>
              <a:t>), and Karnataka performs slightly better in Zaid (</a:t>
            </a:r>
            <a:r>
              <a:rPr lang="en-IN" b="1" dirty="0"/>
              <a:t>6.62 tonnes/ha</a:t>
            </a:r>
            <a:r>
              <a:rPr lang="en-IN" dirty="0"/>
              <a:t>)</a:t>
            </a:r>
          </a:p>
        </p:txBody>
      </p:sp>
      <p:sp>
        <p:nvSpPr>
          <p:cNvPr id="16" name="TextBox 15">
            <a:extLst>
              <a:ext uri="{FF2B5EF4-FFF2-40B4-BE49-F238E27FC236}">
                <a16:creationId xmlns:a16="http://schemas.microsoft.com/office/drawing/2014/main" id="{8B1D0EB2-30D5-A1C2-5409-735A4680C315}"/>
              </a:ext>
            </a:extLst>
          </p:cNvPr>
          <p:cNvSpPr txBox="1"/>
          <p:nvPr/>
        </p:nvSpPr>
        <p:spPr>
          <a:xfrm>
            <a:off x="320981" y="3962401"/>
            <a:ext cx="4488086" cy="2031325"/>
          </a:xfrm>
          <a:prstGeom prst="rect">
            <a:avLst/>
          </a:prstGeom>
          <a:noFill/>
        </p:spPr>
        <p:txBody>
          <a:bodyPr wrap="square" rtlCol="0">
            <a:spAutoFit/>
          </a:bodyPr>
          <a:lstStyle/>
          <a:p>
            <a:r>
              <a:rPr lang="en-IN" dirty="0"/>
              <a:t>The seasonal performance is </a:t>
            </a:r>
            <a:r>
              <a:rPr lang="en-IN" b="1" dirty="0"/>
              <a:t>not completely consistent across states</a:t>
            </a:r>
            <a:r>
              <a:rPr lang="en-IN" dirty="0"/>
              <a:t>. For example, Punjab has its highest average yield in Rabi (</a:t>
            </a:r>
            <a:r>
              <a:rPr lang="en-IN" b="1" dirty="0"/>
              <a:t>8.61 tonnes/ha</a:t>
            </a:r>
            <a:r>
              <a:rPr lang="en-IN" dirty="0"/>
              <a:t>), whereas Gujarat performs best in Kharif (</a:t>
            </a:r>
            <a:r>
              <a:rPr lang="en-IN" b="1" dirty="0"/>
              <a:t>6.34 tonnes/ha</a:t>
            </a:r>
            <a:r>
              <a:rPr lang="en-IN" dirty="0"/>
              <a:t>), and Karnataka performs slightly better in Zaid (</a:t>
            </a:r>
            <a:r>
              <a:rPr lang="en-IN" b="1" dirty="0"/>
              <a:t>6.62 tonnes/ha</a:t>
            </a:r>
            <a:r>
              <a:rPr lang="en-IN" dirty="0"/>
              <a:t>)</a:t>
            </a:r>
          </a:p>
        </p:txBody>
      </p:sp>
    </p:spTree>
    <p:extLst>
      <p:ext uri="{BB962C8B-B14F-4D97-AF65-F5344CB8AC3E}">
        <p14:creationId xmlns:p14="http://schemas.microsoft.com/office/powerpoint/2010/main" val="2771605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D961A8-F1E6-66FC-6C2B-11A5B6AF7B8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E9B45AB-B077-BE58-C661-FA5C1C4567CB}"/>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3729C-40A4-9AF4-8BF7-B6EA2DBFF610}"/>
              </a:ext>
            </a:extLst>
          </p:cNvPr>
          <p:cNvSpPr>
            <a:spLocks noGrp="1"/>
          </p:cNvSpPr>
          <p:nvPr>
            <p:ph type="title"/>
          </p:nvPr>
        </p:nvSpPr>
        <p:spPr>
          <a:xfrm>
            <a:off x="184891" y="-123934"/>
            <a:ext cx="2981643" cy="830997"/>
          </a:xfrm>
        </p:spPr>
        <p:txBody>
          <a:bodyPr>
            <a:normAutofit/>
          </a:bodyPr>
          <a:lstStyle/>
          <a:p>
            <a:r>
              <a:rPr lang="en-GB" sz="3200" dirty="0"/>
              <a:t>RESULTS</a:t>
            </a:r>
            <a:r>
              <a:rPr lang="en-GB" dirty="0"/>
              <a:t> </a:t>
            </a:r>
            <a:endParaRPr lang="en-IN" dirty="0"/>
          </a:p>
        </p:txBody>
      </p:sp>
      <p:sp>
        <p:nvSpPr>
          <p:cNvPr id="7" name="Text Placeholder 30">
            <a:extLst>
              <a:ext uri="{FF2B5EF4-FFF2-40B4-BE49-F238E27FC236}">
                <a16:creationId xmlns:a16="http://schemas.microsoft.com/office/drawing/2014/main" id="{C354D478-942C-8132-CC0A-301A11E1E58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48EA7DD1-B0A8-56FC-74E7-54E57CB6EA7C}"/>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8AA8A5F0-03EA-59DF-96A3-6793F00B70E7}"/>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9" name="Picture 8">
            <a:extLst>
              <a:ext uri="{FF2B5EF4-FFF2-40B4-BE49-F238E27FC236}">
                <a16:creationId xmlns:a16="http://schemas.microsoft.com/office/drawing/2014/main" id="{2150835D-E93A-B581-0C84-4FCA8BAFBAA2}"/>
              </a:ext>
            </a:extLst>
          </p:cNvPr>
          <p:cNvPicPr>
            <a:picLocks noChangeAspect="1"/>
          </p:cNvPicPr>
          <p:nvPr/>
        </p:nvPicPr>
        <p:blipFill>
          <a:blip r:embed="rId3"/>
          <a:stretch>
            <a:fillRect/>
          </a:stretch>
        </p:blipFill>
        <p:spPr>
          <a:xfrm>
            <a:off x="214487" y="742786"/>
            <a:ext cx="4272845" cy="3770735"/>
          </a:xfrm>
          <a:prstGeom prst="rect">
            <a:avLst/>
          </a:prstGeom>
        </p:spPr>
      </p:pic>
      <p:sp>
        <p:nvSpPr>
          <p:cNvPr id="11" name="TextBox 10">
            <a:extLst>
              <a:ext uri="{FF2B5EF4-FFF2-40B4-BE49-F238E27FC236}">
                <a16:creationId xmlns:a16="http://schemas.microsoft.com/office/drawing/2014/main" id="{05221A92-0996-E416-D099-E1259253017F}"/>
              </a:ext>
            </a:extLst>
          </p:cNvPr>
          <p:cNvSpPr txBox="1"/>
          <p:nvPr/>
        </p:nvSpPr>
        <p:spPr>
          <a:xfrm>
            <a:off x="4944530" y="364059"/>
            <a:ext cx="4995335" cy="1754326"/>
          </a:xfrm>
          <a:prstGeom prst="rect">
            <a:avLst/>
          </a:prstGeom>
          <a:noFill/>
        </p:spPr>
        <p:txBody>
          <a:bodyPr wrap="square" rtlCol="0">
            <a:spAutoFit/>
          </a:bodyPr>
          <a:lstStyle/>
          <a:p>
            <a:r>
              <a:rPr lang="en-IN" dirty="0"/>
              <a:t>Some unusual regional patterns are visible. For example, </a:t>
            </a:r>
            <a:r>
              <a:rPr lang="en-IN" b="1" dirty="0"/>
              <a:t>Punjab's Rabi yield (8.61 tonnes/ha)</a:t>
            </a:r>
            <a:r>
              <a:rPr lang="en-IN" dirty="0"/>
              <a:t> is much higher than its Kharif yield (</a:t>
            </a:r>
            <a:r>
              <a:rPr lang="en-IN" b="1" dirty="0"/>
              <a:t>4.10 tonnes/ha</a:t>
            </a:r>
            <a:r>
              <a:rPr lang="en-IN" dirty="0"/>
              <a:t>), while </a:t>
            </a:r>
            <a:r>
              <a:rPr lang="en-IN" b="1" dirty="0"/>
              <a:t>Karnataka's Zaid yield (6.62 tonnes/ha)</a:t>
            </a:r>
            <a:r>
              <a:rPr lang="en-IN" dirty="0"/>
              <a:t> slightly exceeds its Kharif yield (</a:t>
            </a:r>
            <a:r>
              <a:rPr lang="en-IN" b="1" dirty="0"/>
              <a:t>6.52 tonnes/ha</a:t>
            </a:r>
            <a:r>
              <a:rPr lang="en-IN" dirty="0"/>
              <a:t>).</a:t>
            </a:r>
          </a:p>
        </p:txBody>
      </p:sp>
      <p:pic>
        <p:nvPicPr>
          <p:cNvPr id="13" name="Picture 12">
            <a:extLst>
              <a:ext uri="{FF2B5EF4-FFF2-40B4-BE49-F238E27FC236}">
                <a16:creationId xmlns:a16="http://schemas.microsoft.com/office/drawing/2014/main" id="{D2BCCC5B-753C-6147-712E-419908ED8D1E}"/>
              </a:ext>
            </a:extLst>
          </p:cNvPr>
          <p:cNvPicPr>
            <a:picLocks noChangeAspect="1"/>
          </p:cNvPicPr>
          <p:nvPr/>
        </p:nvPicPr>
        <p:blipFill>
          <a:blip r:embed="rId4"/>
          <a:stretch>
            <a:fillRect/>
          </a:stretch>
        </p:blipFill>
        <p:spPr>
          <a:xfrm>
            <a:off x="4986864" y="2469446"/>
            <a:ext cx="5278819" cy="4195514"/>
          </a:xfrm>
          <a:prstGeom prst="rect">
            <a:avLst/>
          </a:prstGeom>
        </p:spPr>
      </p:pic>
      <p:sp>
        <p:nvSpPr>
          <p:cNvPr id="14" name="TextBox 13">
            <a:extLst>
              <a:ext uri="{FF2B5EF4-FFF2-40B4-BE49-F238E27FC236}">
                <a16:creationId xmlns:a16="http://schemas.microsoft.com/office/drawing/2014/main" id="{FC638A27-C81E-0CEE-4D76-691F4987EDB1}"/>
              </a:ext>
            </a:extLst>
          </p:cNvPr>
          <p:cNvSpPr txBox="1"/>
          <p:nvPr/>
        </p:nvSpPr>
        <p:spPr>
          <a:xfrm>
            <a:off x="371157" y="4916552"/>
            <a:ext cx="4116175" cy="1477328"/>
          </a:xfrm>
          <a:prstGeom prst="rect">
            <a:avLst/>
          </a:prstGeom>
          <a:noFill/>
        </p:spPr>
        <p:txBody>
          <a:bodyPr wrap="square" rtlCol="0">
            <a:spAutoFit/>
          </a:bodyPr>
          <a:lstStyle/>
          <a:p>
            <a:r>
              <a:rPr lang="en-IN" dirty="0"/>
              <a:t>The chart highlights these deviations from the overall seasonal trend and shows that certain regions behave differently from the general pattern.</a:t>
            </a:r>
          </a:p>
          <a:p>
            <a:endParaRPr lang="en-IN" dirty="0"/>
          </a:p>
        </p:txBody>
      </p:sp>
    </p:spTree>
    <p:extLst>
      <p:ext uri="{BB962C8B-B14F-4D97-AF65-F5344CB8AC3E}">
        <p14:creationId xmlns:p14="http://schemas.microsoft.com/office/powerpoint/2010/main" val="3275676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45C582-56D2-1FB0-05C8-B0546C80292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8490800-9D00-BE79-74BA-986CD1BE366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5B36F9BC-9708-357F-1CB6-D9648E84E67A}"/>
              </a:ext>
            </a:extLst>
          </p:cNvPr>
          <p:cNvSpPr>
            <a:spLocks noGrp="1"/>
          </p:cNvSpPr>
          <p:nvPr>
            <p:ph type="title"/>
          </p:nvPr>
        </p:nvSpPr>
        <p:spPr>
          <a:xfrm>
            <a:off x="184891" y="-123934"/>
            <a:ext cx="2981643" cy="830997"/>
          </a:xfrm>
        </p:spPr>
        <p:txBody>
          <a:bodyPr>
            <a:normAutofit/>
          </a:bodyPr>
          <a:lstStyle/>
          <a:p>
            <a:r>
              <a:rPr lang="en-GB" sz="3200" dirty="0"/>
              <a:t>RESULTS</a:t>
            </a:r>
            <a:r>
              <a:rPr lang="en-GB" dirty="0"/>
              <a:t> </a:t>
            </a:r>
            <a:endParaRPr lang="en-IN" dirty="0"/>
          </a:p>
        </p:txBody>
      </p:sp>
      <p:sp>
        <p:nvSpPr>
          <p:cNvPr id="7" name="Text Placeholder 30">
            <a:extLst>
              <a:ext uri="{FF2B5EF4-FFF2-40B4-BE49-F238E27FC236}">
                <a16:creationId xmlns:a16="http://schemas.microsoft.com/office/drawing/2014/main" id="{355728AD-D1DC-F82C-A5FE-68292D3069C6}"/>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D5FFAEF1-8FDB-D8AA-272F-3EC10917D453}"/>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55E79D71-9335-A3FE-B987-A5410E30F94B}"/>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728F85C9-1459-20C9-BE2B-290174B63159}"/>
              </a:ext>
            </a:extLst>
          </p:cNvPr>
          <p:cNvPicPr>
            <a:picLocks noChangeAspect="1"/>
          </p:cNvPicPr>
          <p:nvPr/>
        </p:nvPicPr>
        <p:blipFill>
          <a:blip r:embed="rId3"/>
          <a:stretch>
            <a:fillRect/>
          </a:stretch>
        </p:blipFill>
        <p:spPr>
          <a:xfrm>
            <a:off x="199643" y="703880"/>
            <a:ext cx="4588466" cy="3173854"/>
          </a:xfrm>
          <a:prstGeom prst="rect">
            <a:avLst/>
          </a:prstGeom>
        </p:spPr>
      </p:pic>
      <p:pic>
        <p:nvPicPr>
          <p:cNvPr id="9" name="Picture 8">
            <a:extLst>
              <a:ext uri="{FF2B5EF4-FFF2-40B4-BE49-F238E27FC236}">
                <a16:creationId xmlns:a16="http://schemas.microsoft.com/office/drawing/2014/main" id="{89EDB1D0-7BA7-3C6A-DB1C-74D1C12C1339}"/>
              </a:ext>
            </a:extLst>
          </p:cNvPr>
          <p:cNvPicPr>
            <a:picLocks noChangeAspect="1"/>
          </p:cNvPicPr>
          <p:nvPr/>
        </p:nvPicPr>
        <p:blipFill>
          <a:blip r:embed="rId4"/>
          <a:stretch>
            <a:fillRect/>
          </a:stretch>
        </p:blipFill>
        <p:spPr>
          <a:xfrm>
            <a:off x="5207001" y="2369702"/>
            <a:ext cx="5841008" cy="4295258"/>
          </a:xfrm>
          <a:prstGeom prst="rect">
            <a:avLst/>
          </a:prstGeom>
        </p:spPr>
      </p:pic>
      <p:sp>
        <p:nvSpPr>
          <p:cNvPr id="11" name="TextBox 10">
            <a:extLst>
              <a:ext uri="{FF2B5EF4-FFF2-40B4-BE49-F238E27FC236}">
                <a16:creationId xmlns:a16="http://schemas.microsoft.com/office/drawing/2014/main" id="{70BCA5F5-7ED2-5500-DE75-D1F157E27AC4}"/>
              </a:ext>
            </a:extLst>
          </p:cNvPr>
          <p:cNvSpPr txBox="1"/>
          <p:nvPr/>
        </p:nvSpPr>
        <p:spPr>
          <a:xfrm>
            <a:off x="5122332" y="203196"/>
            <a:ext cx="4453467" cy="1754326"/>
          </a:xfrm>
          <a:prstGeom prst="rect">
            <a:avLst/>
          </a:prstGeom>
          <a:noFill/>
        </p:spPr>
        <p:txBody>
          <a:bodyPr wrap="square" rtlCol="0">
            <a:spAutoFit/>
          </a:bodyPr>
          <a:lstStyle/>
          <a:p>
            <a:r>
              <a:rPr lang="en-IN" dirty="0"/>
              <a:t>The analysis indicates that Kharif generally provides the </a:t>
            </a:r>
            <a:r>
              <a:rPr lang="en-IN" b="1" dirty="0"/>
              <a:t>highest yield, revenue, profit, and water efficiency</a:t>
            </a:r>
            <a:r>
              <a:rPr lang="en-IN" dirty="0"/>
              <a:t>, while Zaid has the lowest yield and water efficiency and records negative average profit.</a:t>
            </a:r>
          </a:p>
        </p:txBody>
      </p:sp>
      <p:sp>
        <p:nvSpPr>
          <p:cNvPr id="12" name="TextBox 11">
            <a:extLst>
              <a:ext uri="{FF2B5EF4-FFF2-40B4-BE49-F238E27FC236}">
                <a16:creationId xmlns:a16="http://schemas.microsoft.com/office/drawing/2014/main" id="{D009FF52-2265-E42B-10A8-4BD04E19D188}"/>
              </a:ext>
            </a:extLst>
          </p:cNvPr>
          <p:cNvSpPr txBox="1"/>
          <p:nvPr/>
        </p:nvSpPr>
        <p:spPr>
          <a:xfrm>
            <a:off x="440264" y="4402664"/>
            <a:ext cx="4445000" cy="2031325"/>
          </a:xfrm>
          <a:prstGeom prst="rect">
            <a:avLst/>
          </a:prstGeom>
          <a:noFill/>
        </p:spPr>
        <p:txBody>
          <a:bodyPr wrap="square" rtlCol="0">
            <a:spAutoFit/>
          </a:bodyPr>
          <a:lstStyle/>
          <a:p>
            <a:r>
              <a:rPr lang="en-IN" b="1" dirty="0"/>
              <a:t>Visualization:</a:t>
            </a:r>
            <a:br>
              <a:rPr lang="en-IN" dirty="0"/>
            </a:br>
            <a:r>
              <a:rPr lang="en-IN" dirty="0"/>
              <a:t>The visualizations make it easy to identify </a:t>
            </a:r>
            <a:r>
              <a:rPr lang="en-IN" b="1" dirty="0"/>
              <a:t>Kharif as the strongest overall season and Zaid as the weakest</a:t>
            </a:r>
            <a:r>
              <a:rPr lang="en-IN" dirty="0"/>
              <a:t>, while also revealing regional and environmental differences.</a:t>
            </a:r>
          </a:p>
          <a:p>
            <a:endParaRPr lang="en-IN" dirty="0"/>
          </a:p>
        </p:txBody>
      </p:sp>
    </p:spTree>
    <p:extLst>
      <p:ext uri="{BB962C8B-B14F-4D97-AF65-F5344CB8AC3E}">
        <p14:creationId xmlns:p14="http://schemas.microsoft.com/office/powerpoint/2010/main" val="2255303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9F4C30-69B0-7EB4-CB0A-8FD76D7E890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8CD623E-6750-587C-632C-74332892B3AA}"/>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29300597-6351-9032-7C2C-545A60F5DCA9}"/>
              </a:ext>
            </a:extLst>
          </p:cNvPr>
          <p:cNvSpPr>
            <a:spLocks noGrp="1"/>
          </p:cNvSpPr>
          <p:nvPr>
            <p:ph type="title"/>
          </p:nvPr>
        </p:nvSpPr>
        <p:spPr>
          <a:xfrm>
            <a:off x="184891" y="-123934"/>
            <a:ext cx="2981643" cy="830997"/>
          </a:xfrm>
        </p:spPr>
        <p:txBody>
          <a:bodyPr>
            <a:normAutofit/>
          </a:bodyPr>
          <a:lstStyle/>
          <a:p>
            <a:r>
              <a:rPr lang="en-GB" sz="3200" dirty="0"/>
              <a:t>RESULTS</a:t>
            </a:r>
            <a:r>
              <a:rPr lang="en-GB" dirty="0"/>
              <a:t> </a:t>
            </a:r>
            <a:endParaRPr lang="en-IN" dirty="0"/>
          </a:p>
        </p:txBody>
      </p:sp>
      <p:sp>
        <p:nvSpPr>
          <p:cNvPr id="7" name="Text Placeholder 30">
            <a:extLst>
              <a:ext uri="{FF2B5EF4-FFF2-40B4-BE49-F238E27FC236}">
                <a16:creationId xmlns:a16="http://schemas.microsoft.com/office/drawing/2014/main" id="{40F652CA-6257-C08F-4B01-AAB98BED5CAA}"/>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7EDA5E-1B09-FE21-3644-74E69990F82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D5524B3B-30D3-4CB4-CBD3-466C2754E9B7}"/>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C553E01C-5367-D9C0-3F25-86C1AFD15BD7}"/>
              </a:ext>
            </a:extLst>
          </p:cNvPr>
          <p:cNvPicPr>
            <a:picLocks noChangeAspect="1"/>
          </p:cNvPicPr>
          <p:nvPr/>
        </p:nvPicPr>
        <p:blipFill>
          <a:blip r:embed="rId3"/>
          <a:stretch>
            <a:fillRect/>
          </a:stretch>
        </p:blipFill>
        <p:spPr>
          <a:xfrm>
            <a:off x="298253" y="712359"/>
            <a:ext cx="4838179" cy="3258508"/>
          </a:xfrm>
          <a:prstGeom prst="rect">
            <a:avLst/>
          </a:prstGeom>
        </p:spPr>
      </p:pic>
      <p:pic>
        <p:nvPicPr>
          <p:cNvPr id="9" name="Picture 8">
            <a:extLst>
              <a:ext uri="{FF2B5EF4-FFF2-40B4-BE49-F238E27FC236}">
                <a16:creationId xmlns:a16="http://schemas.microsoft.com/office/drawing/2014/main" id="{B0BA5127-238D-EBB1-D9F6-E74E49F33DA8}"/>
              </a:ext>
            </a:extLst>
          </p:cNvPr>
          <p:cNvPicPr>
            <a:picLocks noChangeAspect="1"/>
          </p:cNvPicPr>
          <p:nvPr/>
        </p:nvPicPr>
        <p:blipFill>
          <a:blip r:embed="rId4"/>
          <a:stretch>
            <a:fillRect/>
          </a:stretch>
        </p:blipFill>
        <p:spPr>
          <a:xfrm>
            <a:off x="5525133" y="2099732"/>
            <a:ext cx="6201199" cy="4660406"/>
          </a:xfrm>
          <a:prstGeom prst="rect">
            <a:avLst/>
          </a:prstGeom>
        </p:spPr>
      </p:pic>
      <p:sp>
        <p:nvSpPr>
          <p:cNvPr id="11" name="TextBox 10">
            <a:extLst>
              <a:ext uri="{FF2B5EF4-FFF2-40B4-BE49-F238E27FC236}">
                <a16:creationId xmlns:a16="http://schemas.microsoft.com/office/drawing/2014/main" id="{CCDBF0BE-DBEA-2FD3-DB16-22D1D4D928C7}"/>
              </a:ext>
            </a:extLst>
          </p:cNvPr>
          <p:cNvSpPr txBox="1"/>
          <p:nvPr/>
        </p:nvSpPr>
        <p:spPr>
          <a:xfrm>
            <a:off x="5274731" y="287870"/>
            <a:ext cx="5528734" cy="1474028"/>
          </a:xfrm>
          <a:prstGeom prst="rect">
            <a:avLst/>
          </a:prstGeom>
          <a:noFill/>
        </p:spPr>
        <p:txBody>
          <a:bodyPr wrap="square" rtlCol="0">
            <a:spAutoFit/>
          </a:bodyPr>
          <a:lstStyle/>
          <a:p>
            <a:r>
              <a:rPr lang="en-IN" dirty="0"/>
              <a:t>The analysis suggests that agricultural performance varies substantially by season. Kharif has the strongest overall performance, while Zaid faces lower yield, higher water usage, lower water efficiency, and negative average profit.</a:t>
            </a:r>
          </a:p>
        </p:txBody>
      </p:sp>
      <p:sp>
        <p:nvSpPr>
          <p:cNvPr id="12" name="TextBox 11">
            <a:extLst>
              <a:ext uri="{FF2B5EF4-FFF2-40B4-BE49-F238E27FC236}">
                <a16:creationId xmlns:a16="http://schemas.microsoft.com/office/drawing/2014/main" id="{ADE7B971-49F3-1C6D-8916-26A85ADBA4EE}"/>
              </a:ext>
            </a:extLst>
          </p:cNvPr>
          <p:cNvSpPr txBox="1"/>
          <p:nvPr/>
        </p:nvSpPr>
        <p:spPr>
          <a:xfrm>
            <a:off x="491063" y="4402670"/>
            <a:ext cx="4478869" cy="2031325"/>
          </a:xfrm>
          <a:prstGeom prst="rect">
            <a:avLst/>
          </a:prstGeom>
          <a:noFill/>
        </p:spPr>
        <p:txBody>
          <a:bodyPr wrap="square" rtlCol="0">
            <a:spAutoFit/>
          </a:bodyPr>
          <a:lstStyle/>
          <a:p>
            <a:r>
              <a:rPr lang="en-IN" b="1" dirty="0"/>
              <a:t>Visualization:</a:t>
            </a:r>
            <a:br>
              <a:rPr lang="en-IN" dirty="0"/>
            </a:br>
            <a:r>
              <a:rPr lang="en-IN" dirty="0"/>
              <a:t>The charts provide a clear overall picture of </a:t>
            </a:r>
            <a:r>
              <a:rPr lang="en-IN" b="1" dirty="0"/>
              <a:t>seasonal differences in agricultural, environmental, resource, and economic performance</a:t>
            </a:r>
            <a:r>
              <a:rPr lang="en-IN" dirty="0"/>
              <a:t>, supporting the numerical findings.</a:t>
            </a:r>
          </a:p>
          <a:p>
            <a:endParaRPr lang="en-IN" dirty="0"/>
          </a:p>
        </p:txBody>
      </p:sp>
    </p:spTree>
    <p:extLst>
      <p:ext uri="{BB962C8B-B14F-4D97-AF65-F5344CB8AC3E}">
        <p14:creationId xmlns:p14="http://schemas.microsoft.com/office/powerpoint/2010/main" val="2511119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681EEF-E669-15E4-5BF3-45CD3D74A6A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91C1688-C130-020F-5D51-36559ADA872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B22C356-EC8F-E756-C926-84EA4F02929A}"/>
              </a:ext>
            </a:extLst>
          </p:cNvPr>
          <p:cNvSpPr>
            <a:spLocks noGrp="1"/>
          </p:cNvSpPr>
          <p:nvPr>
            <p:ph type="title"/>
          </p:nvPr>
        </p:nvSpPr>
        <p:spPr>
          <a:xfrm>
            <a:off x="184891" y="-123934"/>
            <a:ext cx="2981643" cy="830997"/>
          </a:xfrm>
        </p:spPr>
        <p:txBody>
          <a:bodyPr>
            <a:normAutofit/>
          </a:bodyPr>
          <a:lstStyle/>
          <a:p>
            <a:r>
              <a:rPr lang="en-GB" sz="3200" dirty="0"/>
              <a:t>RESULTS</a:t>
            </a:r>
            <a:r>
              <a:rPr lang="en-GB" dirty="0"/>
              <a:t> </a:t>
            </a:r>
            <a:endParaRPr lang="en-IN" dirty="0"/>
          </a:p>
        </p:txBody>
      </p:sp>
      <p:sp>
        <p:nvSpPr>
          <p:cNvPr id="7" name="Text Placeholder 30">
            <a:extLst>
              <a:ext uri="{FF2B5EF4-FFF2-40B4-BE49-F238E27FC236}">
                <a16:creationId xmlns:a16="http://schemas.microsoft.com/office/drawing/2014/main" id="{4A398CB0-DFF4-8FE8-9A5F-C3BD9200392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CEC48523-1EA2-1742-A798-B3BEB01C56F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955E93F1-F560-06DA-643E-39C0B3648269}"/>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D4D78F18-E038-8793-77BC-387B9CF0D476}"/>
              </a:ext>
            </a:extLst>
          </p:cNvPr>
          <p:cNvPicPr>
            <a:picLocks noChangeAspect="1"/>
          </p:cNvPicPr>
          <p:nvPr/>
        </p:nvPicPr>
        <p:blipFill>
          <a:blip r:embed="rId3"/>
          <a:stretch>
            <a:fillRect/>
          </a:stretch>
        </p:blipFill>
        <p:spPr>
          <a:xfrm>
            <a:off x="283039" y="563927"/>
            <a:ext cx="5072085" cy="3824933"/>
          </a:xfrm>
          <a:prstGeom prst="rect">
            <a:avLst/>
          </a:prstGeom>
        </p:spPr>
      </p:pic>
      <p:sp>
        <p:nvSpPr>
          <p:cNvPr id="6" name="TextBox 5">
            <a:extLst>
              <a:ext uri="{FF2B5EF4-FFF2-40B4-BE49-F238E27FC236}">
                <a16:creationId xmlns:a16="http://schemas.microsoft.com/office/drawing/2014/main" id="{D4AA9BA2-B861-0656-FA6F-D6E695F4DB22}"/>
              </a:ext>
            </a:extLst>
          </p:cNvPr>
          <p:cNvSpPr txBox="1"/>
          <p:nvPr/>
        </p:nvSpPr>
        <p:spPr>
          <a:xfrm>
            <a:off x="5453272" y="563927"/>
            <a:ext cx="6519333" cy="1477328"/>
          </a:xfrm>
          <a:prstGeom prst="rect">
            <a:avLst/>
          </a:prstGeom>
          <a:noFill/>
        </p:spPr>
        <p:txBody>
          <a:bodyPr wrap="square" rtlCol="0">
            <a:spAutoFit/>
          </a:bodyPr>
          <a:lstStyle/>
          <a:p>
            <a:r>
              <a:rPr lang="en-IN" b="1" dirty="0"/>
              <a:t>Code / Output:</a:t>
            </a:r>
            <a:br>
              <a:rPr lang="en-IN" dirty="0"/>
            </a:br>
            <a:r>
              <a:rPr lang="en-IN" dirty="0"/>
              <a:t>The results can help farmers and planners identify seasons with better productivity and profitability, while paying particular attention to </a:t>
            </a:r>
            <a:r>
              <a:rPr lang="en-IN" b="1" dirty="0"/>
              <a:t>water management and economic risks during Zaid</a:t>
            </a:r>
            <a:r>
              <a:rPr lang="en-IN" dirty="0"/>
              <a:t>.</a:t>
            </a:r>
          </a:p>
        </p:txBody>
      </p:sp>
      <p:pic>
        <p:nvPicPr>
          <p:cNvPr id="11" name="Picture 10">
            <a:extLst>
              <a:ext uri="{FF2B5EF4-FFF2-40B4-BE49-F238E27FC236}">
                <a16:creationId xmlns:a16="http://schemas.microsoft.com/office/drawing/2014/main" id="{6F23DC68-4A43-2308-7863-4D0B297F361E}"/>
              </a:ext>
            </a:extLst>
          </p:cNvPr>
          <p:cNvPicPr>
            <a:picLocks noChangeAspect="1"/>
          </p:cNvPicPr>
          <p:nvPr/>
        </p:nvPicPr>
        <p:blipFill>
          <a:blip r:embed="rId4"/>
          <a:stretch>
            <a:fillRect/>
          </a:stretch>
        </p:blipFill>
        <p:spPr>
          <a:xfrm>
            <a:off x="5366170" y="2103468"/>
            <a:ext cx="6149873" cy="4754532"/>
          </a:xfrm>
          <a:prstGeom prst="rect">
            <a:avLst/>
          </a:prstGeom>
        </p:spPr>
      </p:pic>
      <p:sp>
        <p:nvSpPr>
          <p:cNvPr id="12" name="TextBox 11">
            <a:extLst>
              <a:ext uri="{FF2B5EF4-FFF2-40B4-BE49-F238E27FC236}">
                <a16:creationId xmlns:a16="http://schemas.microsoft.com/office/drawing/2014/main" id="{589D4B93-0445-AAB6-E03C-B8FA1705CECA}"/>
              </a:ext>
            </a:extLst>
          </p:cNvPr>
          <p:cNvSpPr txBox="1"/>
          <p:nvPr/>
        </p:nvSpPr>
        <p:spPr>
          <a:xfrm>
            <a:off x="675957" y="4633635"/>
            <a:ext cx="4073701" cy="2031325"/>
          </a:xfrm>
          <a:prstGeom prst="rect">
            <a:avLst/>
          </a:prstGeom>
          <a:noFill/>
        </p:spPr>
        <p:txBody>
          <a:bodyPr wrap="square" rtlCol="0">
            <a:spAutoFit/>
          </a:bodyPr>
          <a:lstStyle/>
          <a:p>
            <a:r>
              <a:rPr lang="en-IN" dirty="0"/>
              <a:t>The visualization compares the key indicators across </a:t>
            </a:r>
            <a:r>
              <a:rPr lang="en-IN" b="1" dirty="0"/>
              <a:t>Kharif, Rabi, and Zaid</a:t>
            </a:r>
            <a:r>
              <a:rPr lang="en-IN" dirty="0"/>
              <a:t> seasons. It makes seasonal differences easier to understand and shows how the findings can be used for more effective agricultural planning.</a:t>
            </a:r>
          </a:p>
        </p:txBody>
      </p:sp>
    </p:spTree>
    <p:extLst>
      <p:ext uri="{BB962C8B-B14F-4D97-AF65-F5344CB8AC3E}">
        <p14:creationId xmlns:p14="http://schemas.microsoft.com/office/powerpoint/2010/main" val="2928246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0" y="-8017"/>
            <a:ext cx="4735798" cy="830997"/>
          </a:xfrm>
        </p:spPr>
        <p:txBody>
          <a:bodyPr>
            <a:normAutofit/>
          </a:bodyPr>
          <a:lstStyle/>
          <a:p>
            <a:r>
              <a:rPr lang="en-IN" sz="32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5257E3D3-3272-2281-8DED-251CCF0A6B84}"/>
              </a:ext>
            </a:extLst>
          </p:cNvPr>
          <p:cNvSpPr txBox="1"/>
          <p:nvPr/>
        </p:nvSpPr>
        <p:spPr>
          <a:xfrm>
            <a:off x="59267" y="280481"/>
            <a:ext cx="10583116" cy="6186309"/>
          </a:xfrm>
          <a:prstGeom prst="rect">
            <a:avLst/>
          </a:prstGeom>
          <a:noFill/>
        </p:spPr>
        <p:txBody>
          <a:bodyPr wrap="square" rtlCol="0">
            <a:spAutoFit/>
          </a:bodyPr>
          <a:lstStyle/>
          <a:p>
            <a:endParaRPr lang="en-IN" b="1" dirty="0"/>
          </a:p>
          <a:p>
            <a:pPr lvl="0"/>
            <a:r>
              <a:rPr lang="en-IN" b="1" dirty="0"/>
              <a:t>1.Predictive Analysis</a:t>
            </a:r>
            <a:r>
              <a:rPr lang="en-IN" dirty="0"/>
              <a:t> – Future work can use machine learning to predict crop yield, profit, and agricultural performance for different seasons. </a:t>
            </a:r>
            <a:br>
              <a:rPr lang="en-IN" dirty="0"/>
            </a:br>
            <a:endParaRPr lang="en-IN" dirty="0"/>
          </a:p>
          <a:p>
            <a:pPr lvl="0"/>
            <a:r>
              <a:rPr lang="en-IN" b="1" dirty="0"/>
              <a:t>2.Real-Time Data Integration</a:t>
            </a:r>
            <a:r>
              <a:rPr lang="en-IN" dirty="0"/>
              <a:t> – Weather forecasts, rainfall, soil moisture, and other real-time environmental data can be incorporated to improve seasonal decisions. </a:t>
            </a:r>
            <a:br>
              <a:rPr lang="en-IN" dirty="0"/>
            </a:br>
            <a:endParaRPr lang="en-IN" dirty="0"/>
          </a:p>
          <a:p>
            <a:pPr lvl="0"/>
            <a:r>
              <a:rPr lang="en-IN" b="1" dirty="0"/>
              <a:t>3.Crop Recommendation</a:t>
            </a:r>
            <a:r>
              <a:rPr lang="en-IN" dirty="0"/>
              <a:t> – The analysis can be extended to recommend suitable crops for each season based on yield, water requirements, soil conditions, and expected profit. </a:t>
            </a:r>
            <a:br>
              <a:rPr lang="en-IN" dirty="0"/>
            </a:br>
            <a:endParaRPr lang="en-IN" dirty="0"/>
          </a:p>
          <a:p>
            <a:pPr lvl="0"/>
            <a:r>
              <a:rPr lang="en-IN" b="1" dirty="0"/>
              <a:t>4.Regional-Level Planning</a:t>
            </a:r>
            <a:r>
              <a:rPr lang="en-IN" dirty="0"/>
              <a:t> – Future analysis can study seasonal patterns across different geographical regions and provide region-specific agricultural recommendations. </a:t>
            </a:r>
            <a:br>
              <a:rPr lang="en-IN" dirty="0"/>
            </a:br>
            <a:endParaRPr lang="en-IN" dirty="0"/>
          </a:p>
          <a:p>
            <a:pPr lvl="0"/>
            <a:r>
              <a:rPr lang="en-IN" b="1" dirty="0"/>
              <a:t>5.Resource Optimization</a:t>
            </a:r>
            <a:r>
              <a:rPr lang="en-IN" dirty="0"/>
              <a:t> – Water, fertilizer, pesticide, and other resource usage can be optimized to improve productivity while reducing unnecessary consumption. </a:t>
            </a:r>
            <a:br>
              <a:rPr lang="en-IN" dirty="0"/>
            </a:br>
            <a:endParaRPr lang="en-IN" dirty="0"/>
          </a:p>
          <a:p>
            <a:pPr lvl="0"/>
            <a:r>
              <a:rPr lang="en-IN" b="1" dirty="0"/>
              <a:t>6.Early Risk Detection</a:t>
            </a:r>
            <a:r>
              <a:rPr lang="en-IN" dirty="0"/>
              <a:t> – Disease and pest risk data can be used to develop early-warning systems for farmers. </a:t>
            </a:r>
            <a:br>
              <a:rPr lang="en-IN" dirty="0"/>
            </a:br>
            <a:endParaRPr lang="en-IN" dirty="0"/>
          </a:p>
          <a:p>
            <a:pPr lvl="0"/>
            <a:r>
              <a:rPr lang="en-IN" b="1" dirty="0"/>
              <a:t>7.Interactive Dashboard</a:t>
            </a:r>
            <a:r>
              <a:rPr lang="en-IN" dirty="0"/>
              <a:t> – The project can be developed into an interactive dashboard where users can select a season or region and view agricultural performance and recommendations</a:t>
            </a:r>
          </a:p>
          <a:p>
            <a:endParaRPr lang="en-IN"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FA9DAFFC-F3A2-94A9-BD3D-9D0DB41F3EF0}"/>
              </a:ext>
            </a:extLst>
          </p:cNvPr>
          <p:cNvSpPr txBox="1"/>
          <p:nvPr/>
        </p:nvSpPr>
        <p:spPr>
          <a:xfrm>
            <a:off x="440267" y="3097489"/>
            <a:ext cx="8243347" cy="369332"/>
          </a:xfrm>
          <a:prstGeom prst="rect">
            <a:avLst/>
          </a:prstGeom>
          <a:noFill/>
        </p:spPr>
        <p:txBody>
          <a:bodyPr wrap="none" rtlCol="0">
            <a:spAutoFit/>
          </a:bodyPr>
          <a:lstStyle/>
          <a:p>
            <a:r>
              <a:rPr lang="en-IN" dirty="0"/>
              <a:t>https://github.com/25A31A42H5/Seasonal-Agriculture-Performance-Analysis.</a:t>
            </a:r>
          </a:p>
        </p:txBody>
      </p:sp>
      <p:sp>
        <p:nvSpPr>
          <p:cNvPr id="6" name="TextBox 5">
            <a:extLst>
              <a:ext uri="{FF2B5EF4-FFF2-40B4-BE49-F238E27FC236}">
                <a16:creationId xmlns:a16="http://schemas.microsoft.com/office/drawing/2014/main" id="{862F3D09-497D-C207-E5A1-6268D50D26A5}"/>
              </a:ext>
            </a:extLst>
          </p:cNvPr>
          <p:cNvSpPr txBox="1"/>
          <p:nvPr/>
        </p:nvSpPr>
        <p:spPr>
          <a:xfrm>
            <a:off x="804334" y="1756783"/>
            <a:ext cx="2497666" cy="369332"/>
          </a:xfrm>
          <a:prstGeom prst="rect">
            <a:avLst/>
          </a:prstGeom>
          <a:noFill/>
        </p:spPr>
        <p:txBody>
          <a:bodyPr wrap="square" rtlCol="0">
            <a:spAutoFit/>
          </a:bodyPr>
          <a:lstStyle/>
          <a:p>
            <a:r>
              <a:rPr lang="en-IN" dirty="0">
                <a:hlinkClick r:id="rId3"/>
              </a:rPr>
              <a:t>GitHub link</a:t>
            </a:r>
            <a:endParaRPr lang="en-IN"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B9C6F617-42A3-42BF-9270-ABF11EB98CA7}"/>
              </a:ext>
            </a:extLst>
          </p:cNvPr>
          <p:cNvPicPr>
            <a:picLocks noChangeAspect="1"/>
          </p:cNvPicPr>
          <p:nvPr/>
        </p:nvPicPr>
        <p:blipFill>
          <a:blip r:embed="rId3"/>
          <a:stretch>
            <a:fillRect/>
          </a:stretch>
        </p:blipFill>
        <p:spPr>
          <a:xfrm>
            <a:off x="387149" y="1608410"/>
            <a:ext cx="6187976" cy="4404742"/>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608942" y="639233"/>
            <a:ext cx="11340000" cy="700114"/>
          </a:xfrm>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1191791" y="1790605"/>
            <a:ext cx="7738533" cy="2863925"/>
          </a:xfrm>
        </p:spPr>
        <p:txBody>
          <a:bodyPr>
            <a:normAutofit/>
          </a:bodyPr>
          <a:lstStyle/>
          <a:p>
            <a:endParaRPr lang="en-IN" dirty="0"/>
          </a:p>
          <a:p>
            <a:r>
              <a:rPr lang="en-IN" dirty="0"/>
              <a:t>I sincerely thank you for taking the time to review my project.</a:t>
            </a:r>
            <a:br>
              <a:rPr lang="en-IN" dirty="0"/>
            </a:br>
            <a:r>
              <a:rPr lang="en-IN" dirty="0"/>
              <a:t>I am grateful for your valuable feedback, guidance, and suggestions, which will help me improve my work and learning.</a:t>
            </a:r>
          </a:p>
          <a:p>
            <a:r>
              <a:rPr lang="en-IN" dirty="0"/>
              <a:t>Thank you for your time and support.</a:t>
            </a:r>
          </a:p>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718</TotalTime>
  <Words>1507</Words>
  <Application>Microsoft Office PowerPoint</Application>
  <PresentationFormat>Widescreen</PresentationFormat>
  <Paragraphs>94</Paragraphs>
  <Slides>21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Calibri</vt:lpstr>
      <vt:lpstr>Trebuchet MS</vt:lpstr>
      <vt:lpstr>Wingdings</vt:lpstr>
      <vt:lpstr>Wingdings 3</vt:lpstr>
      <vt:lpstr>Facet</vt:lpstr>
      <vt:lpstr>Project Title -Seasonal Agricultural Analysis</vt:lpstr>
      <vt:lpstr>PROBLEM  STATEMENT</vt:lpstr>
      <vt:lpstr>Project Description </vt:lpstr>
      <vt:lpstr>WHO ARE THE END USERS?</vt:lpstr>
      <vt:lpstr>Technology Used</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THRILOKESH GANDHAM</cp:lastModifiedBy>
  <cp:revision>98</cp:revision>
  <dcterms:created xsi:type="dcterms:W3CDTF">2021-07-11T13:13:15Z</dcterms:created>
  <dcterms:modified xsi:type="dcterms:W3CDTF">2026-09-09T15:15:51Z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